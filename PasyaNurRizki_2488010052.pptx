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</p:sldIdLst>
  <p:sldSz cx="18288000" cy="10287000"/>
  <p:notesSz cx="6858000" cy="9144000"/>
  <p:embeddedFontLst>
    <p:embeddedFont>
      <p:font typeface="Public Sans" charset="1" panose="00000000000000000000"/>
      <p:regular r:id="rId7"/>
    </p:embeddedFont>
    <p:embeddedFont>
      <p:font typeface="Poppins Bold" charset="1" panose="00000800000000000000"/>
      <p:regular r:id="rId8"/>
    </p:embeddedFont>
    <p:embeddedFont>
      <p:font typeface="Poppins" charset="1" panose="00000500000000000000"/>
      <p:regular r:id="rId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fonts/font7.fntdata" Type="http://schemas.openxmlformats.org/officeDocument/2006/relationships/font"/><Relationship Id="rId8" Target="fonts/font8.fntdata" Type="http://schemas.openxmlformats.org/officeDocument/2006/relationships/font"/><Relationship Id="rId9" Target="fonts/font9.fntdata" Type="http://schemas.openxmlformats.org/officeDocument/2006/relationships/font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2001143" y="-1952636"/>
            <a:ext cx="21571064" cy="16372168"/>
            <a:chOff x="0" y="0"/>
            <a:chExt cx="5681268" cy="431201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681268" cy="4312011"/>
            </a:xfrm>
            <a:custGeom>
              <a:avLst/>
              <a:gdLst/>
              <a:ahLst/>
              <a:cxnLst/>
              <a:rect r="r" b="b" t="t" l="l"/>
              <a:pathLst>
                <a:path h="4312011" w="5681268">
                  <a:moveTo>
                    <a:pt x="0" y="0"/>
                  </a:moveTo>
                  <a:lnTo>
                    <a:pt x="5681268" y="0"/>
                  </a:lnTo>
                  <a:lnTo>
                    <a:pt x="5681268" y="4312011"/>
                  </a:lnTo>
                  <a:lnTo>
                    <a:pt x="0" y="4312011"/>
                  </a:lnTo>
                  <a:close/>
                </a:path>
              </a:pathLst>
            </a:custGeom>
            <a:solidFill>
              <a:srgbClr val="0F172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5681268" cy="435011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-1238048" y="-2056045"/>
            <a:ext cx="19526048" cy="14644536"/>
          </a:xfrm>
          <a:custGeom>
            <a:avLst/>
            <a:gdLst/>
            <a:ahLst/>
            <a:cxnLst/>
            <a:rect r="r" b="b" t="t" l="l"/>
            <a:pathLst>
              <a:path h="14644536" w="19526048">
                <a:moveTo>
                  <a:pt x="0" y="0"/>
                </a:moveTo>
                <a:lnTo>
                  <a:pt x="19526048" y="0"/>
                </a:lnTo>
                <a:lnTo>
                  <a:pt x="19526048" y="14644536"/>
                </a:lnTo>
                <a:lnTo>
                  <a:pt x="0" y="1464453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60000"/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-7742513" y="83737"/>
            <a:ext cx="13948733" cy="10364972"/>
          </a:xfrm>
          <a:custGeom>
            <a:avLst/>
            <a:gdLst/>
            <a:ahLst/>
            <a:cxnLst/>
            <a:rect r="r" b="b" t="t" l="l"/>
            <a:pathLst>
              <a:path h="10364972" w="13948733">
                <a:moveTo>
                  <a:pt x="0" y="0"/>
                </a:moveTo>
                <a:lnTo>
                  <a:pt x="13948733" y="0"/>
                </a:lnTo>
                <a:lnTo>
                  <a:pt x="13948733" y="10364972"/>
                </a:lnTo>
                <a:lnTo>
                  <a:pt x="0" y="1036497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-1136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9719282" y="83737"/>
            <a:ext cx="15687568" cy="12981438"/>
          </a:xfrm>
          <a:custGeom>
            <a:avLst/>
            <a:gdLst/>
            <a:ahLst/>
            <a:cxnLst/>
            <a:rect r="r" b="b" t="t" l="l"/>
            <a:pathLst>
              <a:path h="12981438" w="15687568">
                <a:moveTo>
                  <a:pt x="0" y="0"/>
                </a:moveTo>
                <a:lnTo>
                  <a:pt x="15687568" y="0"/>
                </a:lnTo>
                <a:lnTo>
                  <a:pt x="15687568" y="12981439"/>
                </a:lnTo>
                <a:lnTo>
                  <a:pt x="0" y="1298143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70000"/>
            </a:blip>
            <a:stretch>
              <a:fillRect l="-4711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-77409" y="-321449"/>
            <a:ext cx="18442817" cy="18442817"/>
          </a:xfrm>
          <a:custGeom>
            <a:avLst/>
            <a:gdLst/>
            <a:ahLst/>
            <a:cxnLst/>
            <a:rect r="r" b="b" t="t" l="l"/>
            <a:pathLst>
              <a:path h="18442817" w="18442817">
                <a:moveTo>
                  <a:pt x="0" y="0"/>
                </a:moveTo>
                <a:lnTo>
                  <a:pt x="18442818" y="0"/>
                </a:lnTo>
                <a:lnTo>
                  <a:pt x="18442818" y="18442817"/>
                </a:lnTo>
                <a:lnTo>
                  <a:pt x="0" y="1844281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true" rot="0">
            <a:off x="-77409" y="-7856683"/>
            <a:ext cx="18442817" cy="18442817"/>
          </a:xfrm>
          <a:custGeom>
            <a:avLst/>
            <a:gdLst/>
            <a:ahLst/>
            <a:cxnLst/>
            <a:rect r="r" b="b" t="t" l="l"/>
            <a:pathLst>
              <a:path h="18442817" w="18442817">
                <a:moveTo>
                  <a:pt x="0" y="18442817"/>
                </a:moveTo>
                <a:lnTo>
                  <a:pt x="18442818" y="18442817"/>
                </a:lnTo>
                <a:lnTo>
                  <a:pt x="18442818" y="0"/>
                </a:lnTo>
                <a:lnTo>
                  <a:pt x="0" y="0"/>
                </a:lnTo>
                <a:lnTo>
                  <a:pt x="0" y="18442817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0">
            <a:off x="8215483" y="1530413"/>
            <a:ext cx="9586611" cy="8192617"/>
            <a:chOff x="0" y="0"/>
            <a:chExt cx="2524869" cy="215772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524869" cy="2157726"/>
            </a:xfrm>
            <a:custGeom>
              <a:avLst/>
              <a:gdLst/>
              <a:ahLst/>
              <a:cxnLst/>
              <a:rect r="r" b="b" t="t" l="l"/>
              <a:pathLst>
                <a:path h="2157726" w="2524869">
                  <a:moveTo>
                    <a:pt x="41186" y="0"/>
                  </a:moveTo>
                  <a:lnTo>
                    <a:pt x="2483682" y="0"/>
                  </a:lnTo>
                  <a:cubicBezTo>
                    <a:pt x="2506429" y="0"/>
                    <a:pt x="2524869" y="18440"/>
                    <a:pt x="2524869" y="41186"/>
                  </a:cubicBezTo>
                  <a:lnTo>
                    <a:pt x="2524869" y="2116540"/>
                  </a:lnTo>
                  <a:cubicBezTo>
                    <a:pt x="2524869" y="2139286"/>
                    <a:pt x="2506429" y="2157726"/>
                    <a:pt x="2483682" y="2157726"/>
                  </a:cubicBezTo>
                  <a:lnTo>
                    <a:pt x="41186" y="2157726"/>
                  </a:lnTo>
                  <a:cubicBezTo>
                    <a:pt x="18440" y="2157726"/>
                    <a:pt x="0" y="2139286"/>
                    <a:pt x="0" y="2116540"/>
                  </a:cubicBezTo>
                  <a:lnTo>
                    <a:pt x="0" y="41186"/>
                  </a:lnTo>
                  <a:cubicBezTo>
                    <a:pt x="0" y="18440"/>
                    <a:pt x="18440" y="0"/>
                    <a:pt x="41186" y="0"/>
                  </a:cubicBezTo>
                  <a:close/>
                </a:path>
              </a:pathLst>
            </a:custGeom>
            <a:solidFill>
              <a:srgbClr val="0F172A">
                <a:alpha val="60000"/>
              </a:srgbClr>
            </a:solidFill>
            <a:ln w="76200" cap="rnd">
              <a:gradFill>
                <a:gsLst>
                  <a:gs pos="0">
                    <a:srgbClr val="D8D8D8">
                      <a:alpha val="41700"/>
                    </a:srgbClr>
                  </a:gs>
                  <a:gs pos="100000">
                    <a:srgbClr val="BFFF9A">
                      <a:alpha val="23700"/>
                    </a:srgbClr>
                  </a:gs>
                </a:gsLst>
                <a:path path="circle">
                  <a:fillToRect l="0" r="100000" t="0" b="100000"/>
                </a:path>
                <a:tileRect r="0" l="-100000" b="0" t="-100000"/>
              </a:gradFill>
              <a:prstDash val="solid"/>
              <a:round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57150"/>
              <a:ext cx="2524869" cy="221487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71"/>
                </a:lnSpc>
              </a:pPr>
            </a:p>
          </p:txBody>
        </p:sp>
      </p:grpSp>
      <p:sp>
        <p:nvSpPr>
          <p:cNvPr name="Freeform 13" id="13"/>
          <p:cNvSpPr/>
          <p:nvPr/>
        </p:nvSpPr>
        <p:spPr>
          <a:xfrm flipH="false" flipV="false" rot="0">
            <a:off x="233854" y="2209712"/>
            <a:ext cx="7767780" cy="5867576"/>
          </a:xfrm>
          <a:custGeom>
            <a:avLst/>
            <a:gdLst/>
            <a:ahLst/>
            <a:cxnLst/>
            <a:rect r="r" b="b" t="t" l="l"/>
            <a:pathLst>
              <a:path h="5867576" w="7767780">
                <a:moveTo>
                  <a:pt x="0" y="0"/>
                </a:moveTo>
                <a:lnTo>
                  <a:pt x="7767780" y="0"/>
                </a:lnTo>
                <a:lnTo>
                  <a:pt x="7767780" y="5867576"/>
                </a:lnTo>
                <a:lnTo>
                  <a:pt x="0" y="586757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8290792" y="1931021"/>
            <a:ext cx="9435994" cy="7324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647698" indent="-323849" lvl="1">
              <a:lnSpc>
                <a:spcPts val="4199"/>
              </a:lnSpc>
              <a:buFont typeface="Arial"/>
              <a:buChar char="•"/>
            </a:pPr>
            <a:r>
              <a:rPr lang="en-US" sz="2999">
                <a:solidFill>
                  <a:srgbClr val="E2E8F0"/>
                </a:solidFill>
                <a:latin typeface="Public Sans"/>
                <a:ea typeface="Public Sans"/>
                <a:cs typeface="Public Sans"/>
                <a:sym typeface="Public Sans"/>
              </a:rPr>
              <a:t>Asums</a:t>
            </a:r>
            <a:r>
              <a:rPr lang="en-US" sz="2999">
                <a:solidFill>
                  <a:srgbClr val="E2E8F0"/>
                </a:solidFill>
                <a:latin typeface="Public Sans"/>
                <a:ea typeface="Public Sans"/>
                <a:cs typeface="Public Sans"/>
                <a:sym typeface="Public Sans"/>
              </a:rPr>
              <a:t>i Linearitas Gagal: Plot Residual vs Prediksi menunjukkan sisa error tidak menyebar acak, melainkan terbelah menjadi beberapa kelompok terpisah.</a:t>
            </a:r>
          </a:p>
          <a:p>
            <a:pPr algn="just">
              <a:lnSpc>
                <a:spcPts val="4199"/>
              </a:lnSpc>
            </a:pPr>
          </a:p>
          <a:p>
            <a:pPr algn="just" marL="647698" indent="-323849" lvl="1">
              <a:lnSpc>
                <a:spcPts val="4199"/>
              </a:lnSpc>
              <a:buFont typeface="Arial"/>
              <a:buChar char="•"/>
            </a:pPr>
            <a:r>
              <a:rPr lang="en-US" sz="2999">
                <a:solidFill>
                  <a:srgbClr val="E2E8F0"/>
                </a:solidFill>
                <a:latin typeface="Public Sans"/>
                <a:ea typeface="Public Sans"/>
                <a:cs typeface="Public Sans"/>
                <a:sym typeface="Public Sans"/>
              </a:rPr>
              <a:t>Distribusi Tidak Normal: Q-Q plot membentuk kurva "S" (melengkung di kedua ujung), membuktikan residual tidak berdistribusi normal.</a:t>
            </a:r>
          </a:p>
          <a:p>
            <a:pPr algn="just">
              <a:lnSpc>
                <a:spcPts val="4199"/>
              </a:lnSpc>
            </a:pPr>
          </a:p>
          <a:p>
            <a:pPr algn="just" marL="647698" indent="-323849" lvl="1">
              <a:lnSpc>
                <a:spcPts val="4199"/>
              </a:lnSpc>
              <a:buFont typeface="Arial"/>
              <a:buChar char="•"/>
            </a:pPr>
            <a:r>
              <a:rPr lang="en-US" sz="2999">
                <a:solidFill>
                  <a:srgbClr val="E2E8F0"/>
                </a:solidFill>
                <a:latin typeface="Public Sans"/>
                <a:ea typeface="Public Sans"/>
                <a:cs typeface="Public Sans"/>
                <a:sym typeface="Public Sans"/>
              </a:rPr>
              <a:t>Kesimpulan: Model Regresi Linear dasar terlalu sederhana. Model ini memukul rata biaya perokok, dan gagal menangkap efek "ledakan biaya" dari interaksi perokok yang mengalami obesitas.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400710" y="83737"/>
            <a:ext cx="17548492" cy="1280988"/>
            <a:chOff x="0" y="0"/>
            <a:chExt cx="23397989" cy="1707984"/>
          </a:xfrm>
        </p:grpSpPr>
        <p:grpSp>
          <p:nvGrpSpPr>
            <p:cNvPr name="Group 16" id="16"/>
            <p:cNvGrpSpPr/>
            <p:nvPr/>
          </p:nvGrpSpPr>
          <p:grpSpPr>
            <a:xfrm rot="0">
              <a:off x="20838750" y="364655"/>
              <a:ext cx="2559239" cy="755376"/>
              <a:chOff x="0" y="0"/>
              <a:chExt cx="505529" cy="149210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505529" cy="149210"/>
              </a:xfrm>
              <a:custGeom>
                <a:avLst/>
                <a:gdLst/>
                <a:ahLst/>
                <a:cxnLst/>
                <a:rect r="r" b="b" t="t" l="l"/>
                <a:pathLst>
                  <a:path h="149210" w="505529">
                    <a:moveTo>
                      <a:pt x="74605" y="0"/>
                    </a:moveTo>
                    <a:lnTo>
                      <a:pt x="430924" y="0"/>
                    </a:lnTo>
                    <a:cubicBezTo>
                      <a:pt x="472127" y="0"/>
                      <a:pt x="505529" y="33402"/>
                      <a:pt x="505529" y="74605"/>
                    </a:cubicBezTo>
                    <a:lnTo>
                      <a:pt x="505529" y="74605"/>
                    </a:lnTo>
                    <a:cubicBezTo>
                      <a:pt x="505529" y="115808"/>
                      <a:pt x="472127" y="149210"/>
                      <a:pt x="430924" y="149210"/>
                    </a:cubicBezTo>
                    <a:lnTo>
                      <a:pt x="74605" y="149210"/>
                    </a:lnTo>
                    <a:cubicBezTo>
                      <a:pt x="33402" y="149210"/>
                      <a:pt x="0" y="115808"/>
                      <a:pt x="0" y="74605"/>
                    </a:cubicBezTo>
                    <a:lnTo>
                      <a:pt x="0" y="74605"/>
                    </a:lnTo>
                    <a:cubicBezTo>
                      <a:pt x="0" y="33402"/>
                      <a:pt x="33402" y="0"/>
                      <a:pt x="74605" y="0"/>
                    </a:cubicBezTo>
                    <a:close/>
                  </a:path>
                </a:pathLst>
              </a:custGeom>
              <a:solidFill>
                <a:srgbClr val="F4F0E4"/>
              </a:solid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0" y="-57150"/>
                <a:ext cx="505529" cy="20636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</a:pPr>
                <a:r>
                  <a:rPr lang="en-US" b="true" sz="1899" spc="3">
                    <a:solidFill>
                      <a:srgbClr val="000000"/>
                    </a:solidFill>
                    <a:latin typeface="Poppins Bold"/>
                    <a:ea typeface="Poppins Bold"/>
                    <a:cs typeface="Poppins Bold"/>
                    <a:sym typeface="Poppins Bold"/>
                  </a:rPr>
                  <a:t>Kelompok 03</a:t>
                </a:r>
              </a:p>
            </p:txBody>
          </p:sp>
        </p:grpSp>
        <p:sp>
          <p:nvSpPr>
            <p:cNvPr name="TextBox 19" id="19"/>
            <p:cNvSpPr txBox="true"/>
            <p:nvPr/>
          </p:nvSpPr>
          <p:spPr>
            <a:xfrm rot="0">
              <a:off x="1662992" y="288181"/>
              <a:ext cx="5114073" cy="4254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461"/>
                </a:lnSpc>
              </a:pPr>
              <a:r>
                <a:rPr lang="en-US" sz="2051" spc="4">
                  <a:solidFill>
                    <a:srgbClr val="F4F0E4"/>
                  </a:solidFill>
                  <a:latin typeface="Poppins"/>
                  <a:ea typeface="Poppins"/>
                  <a:cs typeface="Poppins"/>
                  <a:sym typeface="Poppins"/>
                </a:rPr>
                <a:t>MACHINE LEARNING</a:t>
              </a:r>
            </a:p>
          </p:txBody>
        </p:sp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522241" cy="1707984"/>
            </a:xfrm>
            <a:custGeom>
              <a:avLst/>
              <a:gdLst/>
              <a:ahLst/>
              <a:cxnLst/>
              <a:rect r="r" b="b" t="t" l="l"/>
              <a:pathLst>
                <a:path h="1707984" w="1522241">
                  <a:moveTo>
                    <a:pt x="0" y="0"/>
                  </a:moveTo>
                  <a:lnTo>
                    <a:pt x="1522241" y="0"/>
                  </a:lnTo>
                  <a:lnTo>
                    <a:pt x="1522241" y="1707984"/>
                  </a:lnTo>
                  <a:lnTo>
                    <a:pt x="0" y="17079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DAHGFOJYnd0</dc:identifier>
  <dcterms:modified xsi:type="dcterms:W3CDTF">2011-08-01T06:04:30Z</dcterms:modified>
  <cp:revision>1</cp:revision>
  <dc:title>hukum telekomunikasi</dc:title>
</cp:coreProperties>
</file>