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ublic Sans Medium" charset="1" panose="00000000000000000000"/>
      <p:regular r:id="rId14"/>
    </p:embeddedFont>
    <p:embeddedFont>
      <p:font typeface="Poppins Bold" charset="1" panose="00000800000000000000"/>
      <p:regular r:id="rId15"/>
    </p:embeddedFont>
    <p:embeddedFont>
      <p:font typeface="Poppins" charset="1" panose="00000500000000000000"/>
      <p:regular r:id="rId16"/>
    </p:embeddedFont>
    <p:embeddedFont>
      <p:font typeface="Public Sans" charset="1" panose="00000000000000000000"/>
      <p:regular r:id="rId17"/>
    </p:embeddedFont>
    <p:embeddedFont>
      <p:font typeface="Public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7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1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2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4.png" Type="http://schemas.openxmlformats.org/officeDocument/2006/relationships/image"/><Relationship Id="rId8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7.png" Type="http://schemas.openxmlformats.org/officeDocument/2006/relationships/image"/><Relationship Id="rId8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143" y="-1952636"/>
            <a:ext cx="21571064" cy="16372168"/>
            <a:chOff x="0" y="0"/>
            <a:chExt cx="5681268" cy="4312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1268" cy="4312011"/>
            </a:xfrm>
            <a:custGeom>
              <a:avLst/>
              <a:gdLst/>
              <a:ahLst/>
              <a:cxnLst/>
              <a:rect r="r" b="b" t="t" l="l"/>
              <a:pathLst>
                <a:path h="4312011" w="5681268">
                  <a:moveTo>
                    <a:pt x="0" y="0"/>
                  </a:moveTo>
                  <a:lnTo>
                    <a:pt x="5681268" y="0"/>
                  </a:lnTo>
                  <a:lnTo>
                    <a:pt x="5681268" y="4312011"/>
                  </a:lnTo>
                  <a:lnTo>
                    <a:pt x="0" y="4312011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1268" cy="4350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194048" y="-5531415"/>
            <a:ext cx="24800536" cy="18600402"/>
          </a:xfrm>
          <a:custGeom>
            <a:avLst/>
            <a:gdLst/>
            <a:ahLst/>
            <a:cxnLst/>
            <a:rect r="r" b="b" t="t" l="l"/>
            <a:pathLst>
              <a:path h="18600402" w="24800536">
                <a:moveTo>
                  <a:pt x="0" y="0"/>
                </a:moveTo>
                <a:lnTo>
                  <a:pt x="24800536" y="0"/>
                </a:lnTo>
                <a:lnTo>
                  <a:pt x="24800536" y="18600402"/>
                </a:lnTo>
                <a:lnTo>
                  <a:pt x="0" y="1860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689822" y="0"/>
            <a:ext cx="30451499" cy="16919275"/>
          </a:xfrm>
          <a:custGeom>
            <a:avLst/>
            <a:gdLst/>
            <a:ahLst/>
            <a:cxnLst/>
            <a:rect r="r" b="b" t="t" l="l"/>
            <a:pathLst>
              <a:path h="16919275" w="30451499">
                <a:moveTo>
                  <a:pt x="0" y="0"/>
                </a:moveTo>
                <a:lnTo>
                  <a:pt x="30451499" y="0"/>
                </a:lnTo>
                <a:lnTo>
                  <a:pt x="30451499" y="16919275"/>
                </a:lnTo>
                <a:lnTo>
                  <a:pt x="0" y="16919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-67" r="-4832" b="-6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60762" y="-2827400"/>
            <a:ext cx="24206187" cy="13192372"/>
          </a:xfrm>
          <a:custGeom>
            <a:avLst/>
            <a:gdLst/>
            <a:ahLst/>
            <a:cxnLst/>
            <a:rect r="r" b="b" t="t" l="l"/>
            <a:pathLst>
              <a:path h="13192372" w="24206187">
                <a:moveTo>
                  <a:pt x="0" y="0"/>
                </a:moveTo>
                <a:lnTo>
                  <a:pt x="24206187" y="0"/>
                </a:lnTo>
                <a:lnTo>
                  <a:pt x="24206187" y="13192372"/>
                </a:lnTo>
                <a:lnTo>
                  <a:pt x="0" y="13192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7600950" y="4125087"/>
            <a:ext cx="3086100" cy="2036826"/>
            <a:chOff x="0" y="0"/>
            <a:chExt cx="635000" cy="419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48997" y="0"/>
                  </a:moveTo>
                  <a:lnTo>
                    <a:pt x="586003" y="0"/>
                  </a:lnTo>
                  <a:cubicBezTo>
                    <a:pt x="598998" y="0"/>
                    <a:pt x="611460" y="5162"/>
                    <a:pt x="620649" y="14351"/>
                  </a:cubicBezTo>
                  <a:cubicBezTo>
                    <a:pt x="629838" y="23540"/>
                    <a:pt x="635000" y="36002"/>
                    <a:pt x="635000" y="48997"/>
                  </a:cubicBezTo>
                  <a:lnTo>
                    <a:pt x="635000" y="370103"/>
                  </a:lnTo>
                  <a:cubicBezTo>
                    <a:pt x="635000" y="383098"/>
                    <a:pt x="629838" y="395560"/>
                    <a:pt x="620649" y="404749"/>
                  </a:cubicBezTo>
                  <a:cubicBezTo>
                    <a:pt x="611460" y="413938"/>
                    <a:pt x="598998" y="419100"/>
                    <a:pt x="586003" y="419100"/>
                  </a:cubicBezTo>
                  <a:lnTo>
                    <a:pt x="48997" y="419100"/>
                  </a:lnTo>
                  <a:cubicBezTo>
                    <a:pt x="36002" y="419100"/>
                    <a:pt x="23540" y="413938"/>
                    <a:pt x="14351" y="404749"/>
                  </a:cubicBezTo>
                  <a:cubicBezTo>
                    <a:pt x="5162" y="395560"/>
                    <a:pt x="0" y="383098"/>
                    <a:pt x="0" y="370103"/>
                  </a:cubicBezTo>
                  <a:lnTo>
                    <a:pt x="0" y="48997"/>
                  </a:lnTo>
                  <a:cubicBezTo>
                    <a:pt x="0" y="36002"/>
                    <a:pt x="5162" y="23540"/>
                    <a:pt x="14351" y="14351"/>
                  </a:cubicBezTo>
                  <a:cubicBezTo>
                    <a:pt x="23540" y="5162"/>
                    <a:pt x="36002" y="0"/>
                    <a:pt x="48997" y="0"/>
                  </a:cubicBezTo>
                  <a:close/>
                </a:path>
              </a:pathLst>
            </a:custGeom>
            <a:solidFill>
              <a:srgbClr val="0C2D4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35000" cy="4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77409" y="-321449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0"/>
                </a:moveTo>
                <a:lnTo>
                  <a:pt x="18442818" y="0"/>
                </a:lnTo>
                <a:lnTo>
                  <a:pt x="18442818" y="18442817"/>
                </a:lnTo>
                <a:lnTo>
                  <a:pt x="0" y="18442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77409" y="-7856683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18442817"/>
                </a:moveTo>
                <a:lnTo>
                  <a:pt x="18442818" y="18442817"/>
                </a:lnTo>
                <a:lnTo>
                  <a:pt x="18442818" y="0"/>
                </a:lnTo>
                <a:lnTo>
                  <a:pt x="0" y="0"/>
                </a:lnTo>
                <a:lnTo>
                  <a:pt x="0" y="184428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397733" y="2111130"/>
            <a:ext cx="15492534" cy="4459337"/>
            <a:chOff x="0" y="0"/>
            <a:chExt cx="4080338" cy="11744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080338" cy="1174476"/>
            </a:xfrm>
            <a:custGeom>
              <a:avLst/>
              <a:gdLst/>
              <a:ahLst/>
              <a:cxnLst/>
              <a:rect r="r" b="b" t="t" l="l"/>
              <a:pathLst>
                <a:path h="1174476" w="4080338">
                  <a:moveTo>
                    <a:pt x="25486" y="0"/>
                  </a:moveTo>
                  <a:lnTo>
                    <a:pt x="4054852" y="0"/>
                  </a:lnTo>
                  <a:cubicBezTo>
                    <a:pt x="4061612" y="0"/>
                    <a:pt x="4068094" y="2685"/>
                    <a:pt x="4072873" y="7465"/>
                  </a:cubicBezTo>
                  <a:cubicBezTo>
                    <a:pt x="4077653" y="12244"/>
                    <a:pt x="4080338" y="18726"/>
                    <a:pt x="4080338" y="25486"/>
                  </a:cubicBezTo>
                  <a:lnTo>
                    <a:pt x="4080338" y="1148990"/>
                  </a:lnTo>
                  <a:cubicBezTo>
                    <a:pt x="4080338" y="1163065"/>
                    <a:pt x="4068928" y="1174476"/>
                    <a:pt x="4054852" y="1174476"/>
                  </a:cubicBezTo>
                  <a:lnTo>
                    <a:pt x="25486" y="1174476"/>
                  </a:lnTo>
                  <a:cubicBezTo>
                    <a:pt x="11410" y="1174476"/>
                    <a:pt x="0" y="1163065"/>
                    <a:pt x="0" y="1148990"/>
                  </a:cubicBezTo>
                  <a:lnTo>
                    <a:pt x="0" y="25486"/>
                  </a:lnTo>
                  <a:cubicBezTo>
                    <a:pt x="0" y="11410"/>
                    <a:pt x="11410" y="0"/>
                    <a:pt x="25486" y="0"/>
                  </a:cubicBez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 w="76200" cap="rnd">
              <a:gradFill>
                <a:gsLst>
                  <a:gs pos="0">
                    <a:srgbClr val="D8D8D8">
                      <a:alpha val="41700"/>
                    </a:srgbClr>
                  </a:gs>
                  <a:gs pos="100000">
                    <a:srgbClr val="BFFF9A">
                      <a:alpha val="237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080338" cy="12316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535990" y="2135524"/>
            <a:ext cx="15277930" cy="4225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E2E8F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Prediksi Biaya Asuransi Kesehatan (Medical Cost Prediction)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00710" y="83737"/>
            <a:ext cx="17548492" cy="1280988"/>
            <a:chOff x="0" y="0"/>
            <a:chExt cx="23397989" cy="1707984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20838750" y="364655"/>
              <a:ext cx="2559239" cy="755376"/>
              <a:chOff x="0" y="0"/>
              <a:chExt cx="505529" cy="14921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74605" y="0"/>
                    </a:moveTo>
                    <a:lnTo>
                      <a:pt x="430924" y="0"/>
                    </a:lnTo>
                    <a:cubicBezTo>
                      <a:pt x="472127" y="0"/>
                      <a:pt x="505529" y="33402"/>
                      <a:pt x="505529" y="74605"/>
                    </a:cubicBezTo>
                    <a:lnTo>
                      <a:pt x="505529" y="74605"/>
                    </a:lnTo>
                    <a:cubicBezTo>
                      <a:pt x="505529" y="115808"/>
                      <a:pt x="472127" y="149210"/>
                      <a:pt x="430924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F4F0E4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Kelompok 03</a:t>
                </a: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62992" y="288181"/>
              <a:ext cx="5114073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1"/>
                </a:lnSpc>
              </a:pPr>
              <a:r>
                <a:rPr lang="en-US" sz="2051" spc="4">
                  <a:solidFill>
                    <a:srgbClr val="F4F0E4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</a:p>
          </p:txBody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522241" cy="1707984"/>
            </a:xfrm>
            <a:custGeom>
              <a:avLst/>
              <a:gdLst/>
              <a:ahLst/>
              <a:cxnLst/>
              <a:rect r="r" b="b" t="t" l="l"/>
              <a:pathLst>
                <a:path h="1707984" w="1522241">
                  <a:moveTo>
                    <a:pt x="0" y="0"/>
                  </a:moveTo>
                  <a:lnTo>
                    <a:pt x="1522241" y="0"/>
                  </a:lnTo>
                  <a:lnTo>
                    <a:pt x="1522241" y="1707984"/>
                  </a:lnTo>
                  <a:lnTo>
                    <a:pt x="0" y="17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48844" y="6751442"/>
            <a:ext cx="15590312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b="true" sz="4200">
                <a:solidFill>
                  <a:srgbClr val="E2E8F0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Exploratory Data Analysis, Preprocessing, dan Regresi Linear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7733" y="7892537"/>
            <a:ext cx="15277930" cy="125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PASYA NUR RIZKI 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2488010052</a:t>
            </a:r>
          </a:p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INFORMATIKA 5 C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143" y="-1952636"/>
            <a:ext cx="21571064" cy="16372168"/>
            <a:chOff x="0" y="0"/>
            <a:chExt cx="5681268" cy="4312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1268" cy="4312011"/>
            </a:xfrm>
            <a:custGeom>
              <a:avLst/>
              <a:gdLst/>
              <a:ahLst/>
              <a:cxnLst/>
              <a:rect r="r" b="b" t="t" l="l"/>
              <a:pathLst>
                <a:path h="4312011" w="5681268">
                  <a:moveTo>
                    <a:pt x="0" y="0"/>
                  </a:moveTo>
                  <a:lnTo>
                    <a:pt x="5681268" y="0"/>
                  </a:lnTo>
                  <a:lnTo>
                    <a:pt x="5681268" y="4312011"/>
                  </a:lnTo>
                  <a:lnTo>
                    <a:pt x="0" y="4312011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1268" cy="4350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194048" y="-5531415"/>
            <a:ext cx="24800536" cy="18600402"/>
          </a:xfrm>
          <a:custGeom>
            <a:avLst/>
            <a:gdLst/>
            <a:ahLst/>
            <a:cxnLst/>
            <a:rect r="r" b="b" t="t" l="l"/>
            <a:pathLst>
              <a:path h="18600402" w="24800536">
                <a:moveTo>
                  <a:pt x="0" y="0"/>
                </a:moveTo>
                <a:lnTo>
                  <a:pt x="24800536" y="0"/>
                </a:lnTo>
                <a:lnTo>
                  <a:pt x="24800536" y="18600402"/>
                </a:lnTo>
                <a:lnTo>
                  <a:pt x="0" y="186004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689822" y="0"/>
            <a:ext cx="30451499" cy="16919275"/>
          </a:xfrm>
          <a:custGeom>
            <a:avLst/>
            <a:gdLst/>
            <a:ahLst/>
            <a:cxnLst/>
            <a:rect r="r" b="b" t="t" l="l"/>
            <a:pathLst>
              <a:path h="16919275" w="30451499">
                <a:moveTo>
                  <a:pt x="0" y="0"/>
                </a:moveTo>
                <a:lnTo>
                  <a:pt x="30451499" y="0"/>
                </a:lnTo>
                <a:lnTo>
                  <a:pt x="30451499" y="16919275"/>
                </a:lnTo>
                <a:lnTo>
                  <a:pt x="0" y="169192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0" t="-67" r="-4832" b="-67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60762" y="-2827400"/>
            <a:ext cx="24206187" cy="13192372"/>
          </a:xfrm>
          <a:custGeom>
            <a:avLst/>
            <a:gdLst/>
            <a:ahLst/>
            <a:cxnLst/>
            <a:rect r="r" b="b" t="t" l="l"/>
            <a:pathLst>
              <a:path h="13192372" w="24206187">
                <a:moveTo>
                  <a:pt x="0" y="0"/>
                </a:moveTo>
                <a:lnTo>
                  <a:pt x="24206187" y="0"/>
                </a:lnTo>
                <a:lnTo>
                  <a:pt x="24206187" y="13192372"/>
                </a:lnTo>
                <a:lnTo>
                  <a:pt x="0" y="1319237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7409" y="-321449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0"/>
                </a:moveTo>
                <a:lnTo>
                  <a:pt x="18442818" y="0"/>
                </a:lnTo>
                <a:lnTo>
                  <a:pt x="18442818" y="18442817"/>
                </a:lnTo>
                <a:lnTo>
                  <a:pt x="0" y="18442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7409" y="-7856683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18442817"/>
                </a:moveTo>
                <a:lnTo>
                  <a:pt x="18442818" y="18442817"/>
                </a:lnTo>
                <a:lnTo>
                  <a:pt x="18442818" y="0"/>
                </a:lnTo>
                <a:lnTo>
                  <a:pt x="0" y="0"/>
                </a:lnTo>
                <a:lnTo>
                  <a:pt x="0" y="184428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26661" y="5620507"/>
            <a:ext cx="16634678" cy="3967248"/>
            <a:chOff x="0" y="0"/>
            <a:chExt cx="4381150" cy="10448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81150" cy="1044872"/>
            </a:xfrm>
            <a:custGeom>
              <a:avLst/>
              <a:gdLst/>
              <a:ahLst/>
              <a:cxnLst/>
              <a:rect r="r" b="b" t="t" l="l"/>
              <a:pathLst>
                <a:path h="1044872" w="4381150">
                  <a:moveTo>
                    <a:pt x="23736" y="0"/>
                  </a:moveTo>
                  <a:lnTo>
                    <a:pt x="4357414" y="0"/>
                  </a:lnTo>
                  <a:cubicBezTo>
                    <a:pt x="4370523" y="0"/>
                    <a:pt x="4381150" y="10627"/>
                    <a:pt x="4381150" y="23736"/>
                  </a:cubicBezTo>
                  <a:lnTo>
                    <a:pt x="4381150" y="1021136"/>
                  </a:lnTo>
                  <a:cubicBezTo>
                    <a:pt x="4381150" y="1034245"/>
                    <a:pt x="4370523" y="1044872"/>
                    <a:pt x="4357414" y="1044872"/>
                  </a:cubicBezTo>
                  <a:lnTo>
                    <a:pt x="23736" y="1044872"/>
                  </a:lnTo>
                  <a:cubicBezTo>
                    <a:pt x="10627" y="1044872"/>
                    <a:pt x="0" y="1034245"/>
                    <a:pt x="0" y="1021136"/>
                  </a:cubicBezTo>
                  <a:lnTo>
                    <a:pt x="0" y="23736"/>
                  </a:lnTo>
                  <a:cubicBezTo>
                    <a:pt x="0" y="10627"/>
                    <a:pt x="10627" y="0"/>
                    <a:pt x="23736" y="0"/>
                  </a:cubicBez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 w="76200" cap="rnd">
              <a:gradFill>
                <a:gsLst>
                  <a:gs pos="0">
                    <a:srgbClr val="D8D8D8">
                      <a:alpha val="41700"/>
                    </a:srgbClr>
                  </a:gs>
                  <a:gs pos="100000">
                    <a:srgbClr val="BFFF9A">
                      <a:alpha val="237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381150" cy="11020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47505" y="5978214"/>
            <a:ext cx="16511795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E2E8F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Terdiri dari 1.338 pemegang polis asuransi di AS.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E2E8F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Fitur Numerik: age (usia), bmi (indeks massa tubuh), children (jumlah anak).</a:t>
            </a:r>
          </a:p>
          <a:p>
            <a:pPr algn="l" marL="777240" indent="-388620" lvl="1">
              <a:lnSpc>
                <a:spcPts val="5040"/>
              </a:lnSpc>
              <a:buFont typeface="Arial"/>
              <a:buChar char="•"/>
            </a:pPr>
            <a:r>
              <a:rPr lang="en-US" b="true" sz="3600">
                <a:solidFill>
                  <a:srgbClr val="E2E8F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Fitur Kategorikal: sex (jenis kelamin), smoker (perokok/tidak), region (wilayah).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576993" y="1364725"/>
            <a:ext cx="11134013" cy="3989192"/>
          </a:xfrm>
          <a:custGeom>
            <a:avLst/>
            <a:gdLst/>
            <a:ahLst/>
            <a:cxnLst/>
            <a:rect r="r" b="b" t="t" l="l"/>
            <a:pathLst>
              <a:path h="3989192" w="11134013">
                <a:moveTo>
                  <a:pt x="0" y="0"/>
                </a:moveTo>
                <a:lnTo>
                  <a:pt x="11134014" y="0"/>
                </a:lnTo>
                <a:lnTo>
                  <a:pt x="11134014" y="3989192"/>
                </a:lnTo>
                <a:lnTo>
                  <a:pt x="0" y="39891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00710" y="83737"/>
            <a:ext cx="17548492" cy="1280988"/>
            <a:chOff x="0" y="0"/>
            <a:chExt cx="23397989" cy="170798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0838750" y="364655"/>
              <a:ext cx="2559239" cy="755376"/>
              <a:chOff x="0" y="0"/>
              <a:chExt cx="505529" cy="1492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74605" y="0"/>
                    </a:moveTo>
                    <a:lnTo>
                      <a:pt x="430924" y="0"/>
                    </a:lnTo>
                    <a:cubicBezTo>
                      <a:pt x="472127" y="0"/>
                      <a:pt x="505529" y="33402"/>
                      <a:pt x="505529" y="74605"/>
                    </a:cubicBezTo>
                    <a:lnTo>
                      <a:pt x="505529" y="74605"/>
                    </a:lnTo>
                    <a:cubicBezTo>
                      <a:pt x="505529" y="115808"/>
                      <a:pt x="472127" y="149210"/>
                      <a:pt x="430924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F4F0E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Kelompok 03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62992" y="288181"/>
              <a:ext cx="5114073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1"/>
                </a:lnSpc>
              </a:pPr>
              <a:r>
                <a:rPr lang="en-US" sz="2051" spc="4">
                  <a:solidFill>
                    <a:srgbClr val="F4F0E4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2241" cy="1707984"/>
            </a:xfrm>
            <a:custGeom>
              <a:avLst/>
              <a:gdLst/>
              <a:ahLst/>
              <a:cxnLst/>
              <a:rect r="r" b="b" t="t" l="l"/>
              <a:pathLst>
                <a:path h="1707984" w="1522241">
                  <a:moveTo>
                    <a:pt x="0" y="0"/>
                  </a:moveTo>
                  <a:lnTo>
                    <a:pt x="1522241" y="0"/>
                  </a:lnTo>
                  <a:lnTo>
                    <a:pt x="1522241" y="1707984"/>
                  </a:lnTo>
                  <a:lnTo>
                    <a:pt x="0" y="17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143" y="-1952636"/>
            <a:ext cx="21571064" cy="16372168"/>
            <a:chOff x="0" y="0"/>
            <a:chExt cx="5681268" cy="4312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1268" cy="4312011"/>
            </a:xfrm>
            <a:custGeom>
              <a:avLst/>
              <a:gdLst/>
              <a:ahLst/>
              <a:cxnLst/>
              <a:rect r="r" b="b" t="t" l="l"/>
              <a:pathLst>
                <a:path h="4312011" w="5681268">
                  <a:moveTo>
                    <a:pt x="0" y="0"/>
                  </a:moveTo>
                  <a:lnTo>
                    <a:pt x="5681268" y="0"/>
                  </a:lnTo>
                  <a:lnTo>
                    <a:pt x="5681268" y="4312011"/>
                  </a:lnTo>
                  <a:lnTo>
                    <a:pt x="0" y="4312011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1268" cy="4350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8048" y="-2056045"/>
            <a:ext cx="19526048" cy="14644536"/>
          </a:xfrm>
          <a:custGeom>
            <a:avLst/>
            <a:gdLst/>
            <a:ahLst/>
            <a:cxnLst/>
            <a:rect r="r" b="b" t="t" l="l"/>
            <a:pathLst>
              <a:path h="14644536" w="19526048">
                <a:moveTo>
                  <a:pt x="0" y="0"/>
                </a:moveTo>
                <a:lnTo>
                  <a:pt x="19526048" y="0"/>
                </a:lnTo>
                <a:lnTo>
                  <a:pt x="19526048" y="14644536"/>
                </a:lnTo>
                <a:lnTo>
                  <a:pt x="0" y="1464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742513" y="83737"/>
            <a:ext cx="13948733" cy="10364972"/>
          </a:xfrm>
          <a:custGeom>
            <a:avLst/>
            <a:gdLst/>
            <a:ahLst/>
            <a:cxnLst/>
            <a:rect r="r" b="b" t="t" l="l"/>
            <a:pathLst>
              <a:path h="10364972" w="13948733">
                <a:moveTo>
                  <a:pt x="0" y="0"/>
                </a:moveTo>
                <a:lnTo>
                  <a:pt x="13948733" y="0"/>
                </a:lnTo>
                <a:lnTo>
                  <a:pt x="13948733" y="10364972"/>
                </a:lnTo>
                <a:lnTo>
                  <a:pt x="0" y="10364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-1136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19282" y="83737"/>
            <a:ext cx="15687568" cy="12981438"/>
          </a:xfrm>
          <a:custGeom>
            <a:avLst/>
            <a:gdLst/>
            <a:ahLst/>
            <a:cxnLst/>
            <a:rect r="r" b="b" t="t" l="l"/>
            <a:pathLst>
              <a:path h="12981438" w="15687568">
                <a:moveTo>
                  <a:pt x="0" y="0"/>
                </a:moveTo>
                <a:lnTo>
                  <a:pt x="15687568" y="0"/>
                </a:lnTo>
                <a:lnTo>
                  <a:pt x="15687568" y="12981439"/>
                </a:lnTo>
                <a:lnTo>
                  <a:pt x="0" y="12981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4711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7409" y="-321449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0"/>
                </a:moveTo>
                <a:lnTo>
                  <a:pt x="18442818" y="0"/>
                </a:lnTo>
                <a:lnTo>
                  <a:pt x="18442818" y="18442817"/>
                </a:lnTo>
                <a:lnTo>
                  <a:pt x="0" y="18442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7409" y="-7856683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18442817"/>
                </a:moveTo>
                <a:lnTo>
                  <a:pt x="18442818" y="18442817"/>
                </a:lnTo>
                <a:lnTo>
                  <a:pt x="18442818" y="0"/>
                </a:lnTo>
                <a:lnTo>
                  <a:pt x="0" y="0"/>
                </a:lnTo>
                <a:lnTo>
                  <a:pt x="0" y="184428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174956" y="2378001"/>
            <a:ext cx="8774246" cy="6297148"/>
            <a:chOff x="0" y="0"/>
            <a:chExt cx="2310912" cy="16585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10912" cy="1658508"/>
            </a:xfrm>
            <a:custGeom>
              <a:avLst/>
              <a:gdLst/>
              <a:ahLst/>
              <a:cxnLst/>
              <a:rect r="r" b="b" t="t" l="l"/>
              <a:pathLst>
                <a:path h="1658508" w="2310912">
                  <a:moveTo>
                    <a:pt x="45000" y="0"/>
                  </a:moveTo>
                  <a:lnTo>
                    <a:pt x="2265913" y="0"/>
                  </a:lnTo>
                  <a:cubicBezTo>
                    <a:pt x="2277847" y="0"/>
                    <a:pt x="2289293" y="4741"/>
                    <a:pt x="2297732" y="13180"/>
                  </a:cubicBezTo>
                  <a:cubicBezTo>
                    <a:pt x="2306171" y="21619"/>
                    <a:pt x="2310912" y="33065"/>
                    <a:pt x="2310912" y="45000"/>
                  </a:cubicBezTo>
                  <a:lnTo>
                    <a:pt x="2310912" y="1613508"/>
                  </a:lnTo>
                  <a:cubicBezTo>
                    <a:pt x="2310912" y="1625443"/>
                    <a:pt x="2306171" y="1636889"/>
                    <a:pt x="2297732" y="1645328"/>
                  </a:cubicBezTo>
                  <a:cubicBezTo>
                    <a:pt x="2289293" y="1653767"/>
                    <a:pt x="2277847" y="1658508"/>
                    <a:pt x="2265913" y="1658508"/>
                  </a:cubicBezTo>
                  <a:lnTo>
                    <a:pt x="45000" y="1658508"/>
                  </a:lnTo>
                  <a:cubicBezTo>
                    <a:pt x="33065" y="1658508"/>
                    <a:pt x="21619" y="1653767"/>
                    <a:pt x="13180" y="1645328"/>
                  </a:cubicBezTo>
                  <a:cubicBezTo>
                    <a:pt x="4741" y="1636889"/>
                    <a:pt x="0" y="1625443"/>
                    <a:pt x="0" y="1613508"/>
                  </a:cubicBezTo>
                  <a:lnTo>
                    <a:pt x="0" y="45000"/>
                  </a:lnTo>
                  <a:cubicBezTo>
                    <a:pt x="0" y="33065"/>
                    <a:pt x="4741" y="21619"/>
                    <a:pt x="13180" y="13180"/>
                  </a:cubicBezTo>
                  <a:cubicBezTo>
                    <a:pt x="21619" y="4741"/>
                    <a:pt x="33065" y="0"/>
                    <a:pt x="45000" y="0"/>
                  </a:cubicBez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 w="76200" cap="rnd">
              <a:gradFill>
                <a:gsLst>
                  <a:gs pos="0">
                    <a:srgbClr val="D8D8D8">
                      <a:alpha val="41700"/>
                    </a:srgbClr>
                  </a:gs>
                  <a:gs pos="100000">
                    <a:srgbClr val="BFFF9A">
                      <a:alpha val="237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310912" cy="1715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3455" y="1863798"/>
            <a:ext cx="8910545" cy="5989538"/>
          </a:xfrm>
          <a:custGeom>
            <a:avLst/>
            <a:gdLst/>
            <a:ahLst/>
            <a:cxnLst/>
            <a:rect r="r" b="b" t="t" l="l"/>
            <a:pathLst>
              <a:path h="5989538" w="8910545">
                <a:moveTo>
                  <a:pt x="0" y="0"/>
                </a:moveTo>
                <a:lnTo>
                  <a:pt x="8910545" y="0"/>
                </a:lnTo>
                <a:lnTo>
                  <a:pt x="8910545" y="5989538"/>
                </a:lnTo>
                <a:lnTo>
                  <a:pt x="0" y="598953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377511" y="2772592"/>
            <a:ext cx="8185554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Dataset sangat bersih. Tidak ditemukan missing value (0%). Terdapat 1 baris duplikat yang langsung dihapus untuk mencegah data leakage.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72279" y="5767361"/>
            <a:ext cx="8537379" cy="2085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Rata-rata biaya adalah $13.270, jauh di atas median $9.382, menandakan adanya sebagian kecil peserta yang menanggung biaya medis sangat ekstrem (hingga $63.770).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00710" y="83737"/>
            <a:ext cx="17548492" cy="1280988"/>
            <a:chOff x="0" y="0"/>
            <a:chExt cx="23397989" cy="170798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20838750" y="364655"/>
              <a:ext cx="2559239" cy="755376"/>
              <a:chOff x="0" y="0"/>
              <a:chExt cx="505529" cy="14921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74605" y="0"/>
                    </a:moveTo>
                    <a:lnTo>
                      <a:pt x="430924" y="0"/>
                    </a:lnTo>
                    <a:cubicBezTo>
                      <a:pt x="472127" y="0"/>
                      <a:pt x="505529" y="33402"/>
                      <a:pt x="505529" y="74605"/>
                    </a:cubicBezTo>
                    <a:lnTo>
                      <a:pt x="505529" y="74605"/>
                    </a:lnTo>
                    <a:cubicBezTo>
                      <a:pt x="505529" y="115808"/>
                      <a:pt x="472127" y="149210"/>
                      <a:pt x="430924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F4F0E4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Kelompok 03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662992" y="288181"/>
              <a:ext cx="5114073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1"/>
                </a:lnSpc>
              </a:pPr>
              <a:r>
                <a:rPr lang="en-US" sz="2051" spc="4">
                  <a:solidFill>
                    <a:srgbClr val="F4F0E4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2241" cy="1707984"/>
            </a:xfrm>
            <a:custGeom>
              <a:avLst/>
              <a:gdLst/>
              <a:ahLst/>
              <a:cxnLst/>
              <a:rect r="r" b="b" t="t" l="l"/>
              <a:pathLst>
                <a:path h="1707984" w="1522241">
                  <a:moveTo>
                    <a:pt x="0" y="0"/>
                  </a:moveTo>
                  <a:lnTo>
                    <a:pt x="1522241" y="0"/>
                  </a:lnTo>
                  <a:lnTo>
                    <a:pt x="1522241" y="1707984"/>
                  </a:lnTo>
                  <a:lnTo>
                    <a:pt x="0" y="17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143" y="-1952636"/>
            <a:ext cx="21571064" cy="16372168"/>
            <a:chOff x="0" y="0"/>
            <a:chExt cx="5681268" cy="4312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1268" cy="4312011"/>
            </a:xfrm>
            <a:custGeom>
              <a:avLst/>
              <a:gdLst/>
              <a:ahLst/>
              <a:cxnLst/>
              <a:rect r="r" b="b" t="t" l="l"/>
              <a:pathLst>
                <a:path h="4312011" w="5681268">
                  <a:moveTo>
                    <a:pt x="0" y="0"/>
                  </a:moveTo>
                  <a:lnTo>
                    <a:pt x="5681268" y="0"/>
                  </a:lnTo>
                  <a:lnTo>
                    <a:pt x="5681268" y="4312011"/>
                  </a:lnTo>
                  <a:lnTo>
                    <a:pt x="0" y="4312011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1268" cy="4350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8048" y="-2056045"/>
            <a:ext cx="19526048" cy="14644536"/>
          </a:xfrm>
          <a:custGeom>
            <a:avLst/>
            <a:gdLst/>
            <a:ahLst/>
            <a:cxnLst/>
            <a:rect r="r" b="b" t="t" l="l"/>
            <a:pathLst>
              <a:path h="14644536" w="19526048">
                <a:moveTo>
                  <a:pt x="0" y="0"/>
                </a:moveTo>
                <a:lnTo>
                  <a:pt x="19526048" y="0"/>
                </a:lnTo>
                <a:lnTo>
                  <a:pt x="19526048" y="14644536"/>
                </a:lnTo>
                <a:lnTo>
                  <a:pt x="0" y="1464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742513" y="83737"/>
            <a:ext cx="13948733" cy="10364972"/>
          </a:xfrm>
          <a:custGeom>
            <a:avLst/>
            <a:gdLst/>
            <a:ahLst/>
            <a:cxnLst/>
            <a:rect r="r" b="b" t="t" l="l"/>
            <a:pathLst>
              <a:path h="10364972" w="13948733">
                <a:moveTo>
                  <a:pt x="0" y="0"/>
                </a:moveTo>
                <a:lnTo>
                  <a:pt x="13948733" y="0"/>
                </a:lnTo>
                <a:lnTo>
                  <a:pt x="13948733" y="10364972"/>
                </a:lnTo>
                <a:lnTo>
                  <a:pt x="0" y="10364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-1136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19282" y="83737"/>
            <a:ext cx="15687568" cy="12981438"/>
          </a:xfrm>
          <a:custGeom>
            <a:avLst/>
            <a:gdLst/>
            <a:ahLst/>
            <a:cxnLst/>
            <a:rect r="r" b="b" t="t" l="l"/>
            <a:pathLst>
              <a:path h="12981438" w="15687568">
                <a:moveTo>
                  <a:pt x="0" y="0"/>
                </a:moveTo>
                <a:lnTo>
                  <a:pt x="15687568" y="0"/>
                </a:lnTo>
                <a:lnTo>
                  <a:pt x="15687568" y="12981439"/>
                </a:lnTo>
                <a:lnTo>
                  <a:pt x="0" y="12981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4711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7409" y="-321449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0"/>
                </a:moveTo>
                <a:lnTo>
                  <a:pt x="18442818" y="0"/>
                </a:lnTo>
                <a:lnTo>
                  <a:pt x="18442818" y="18442817"/>
                </a:lnTo>
                <a:lnTo>
                  <a:pt x="0" y="18442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7409" y="-7856683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18442817"/>
                </a:moveTo>
                <a:lnTo>
                  <a:pt x="18442818" y="18442817"/>
                </a:lnTo>
                <a:lnTo>
                  <a:pt x="18442818" y="0"/>
                </a:lnTo>
                <a:lnTo>
                  <a:pt x="0" y="0"/>
                </a:lnTo>
                <a:lnTo>
                  <a:pt x="0" y="184428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193719" y="5038725"/>
            <a:ext cx="11900561" cy="4467223"/>
            <a:chOff x="0" y="0"/>
            <a:chExt cx="3134304" cy="117655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4304" cy="1176552"/>
            </a:xfrm>
            <a:custGeom>
              <a:avLst/>
              <a:gdLst/>
              <a:ahLst/>
              <a:cxnLst/>
              <a:rect r="r" b="b" t="t" l="l"/>
              <a:pathLst>
                <a:path h="1176552" w="3134304">
                  <a:moveTo>
                    <a:pt x="33178" y="0"/>
                  </a:moveTo>
                  <a:lnTo>
                    <a:pt x="3101126" y="0"/>
                  </a:lnTo>
                  <a:cubicBezTo>
                    <a:pt x="3109925" y="0"/>
                    <a:pt x="3118365" y="3496"/>
                    <a:pt x="3124587" y="9718"/>
                  </a:cubicBezTo>
                  <a:cubicBezTo>
                    <a:pt x="3130809" y="15940"/>
                    <a:pt x="3134304" y="24379"/>
                    <a:pt x="3134304" y="33178"/>
                  </a:cubicBezTo>
                  <a:lnTo>
                    <a:pt x="3134304" y="1143374"/>
                  </a:lnTo>
                  <a:cubicBezTo>
                    <a:pt x="3134304" y="1152174"/>
                    <a:pt x="3130809" y="1160613"/>
                    <a:pt x="3124587" y="1166835"/>
                  </a:cubicBezTo>
                  <a:cubicBezTo>
                    <a:pt x="3118365" y="1173057"/>
                    <a:pt x="3109925" y="1176552"/>
                    <a:pt x="3101126" y="1176552"/>
                  </a:cubicBezTo>
                  <a:lnTo>
                    <a:pt x="33178" y="1176552"/>
                  </a:lnTo>
                  <a:cubicBezTo>
                    <a:pt x="24379" y="1176552"/>
                    <a:pt x="15940" y="1173057"/>
                    <a:pt x="9718" y="1166835"/>
                  </a:cubicBezTo>
                  <a:cubicBezTo>
                    <a:pt x="3496" y="1160613"/>
                    <a:pt x="0" y="1152174"/>
                    <a:pt x="0" y="1143374"/>
                  </a:cubicBezTo>
                  <a:lnTo>
                    <a:pt x="0" y="33178"/>
                  </a:lnTo>
                  <a:cubicBezTo>
                    <a:pt x="0" y="24379"/>
                    <a:pt x="3496" y="15940"/>
                    <a:pt x="9718" y="9718"/>
                  </a:cubicBezTo>
                  <a:cubicBezTo>
                    <a:pt x="15940" y="3496"/>
                    <a:pt x="24379" y="0"/>
                    <a:pt x="33178" y="0"/>
                  </a:cubicBez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 w="76200" cap="rnd">
              <a:gradFill>
                <a:gsLst>
                  <a:gs pos="0">
                    <a:srgbClr val="D8D8D8">
                      <a:alpha val="41700"/>
                    </a:srgbClr>
                  </a:gs>
                  <a:gs pos="100000">
                    <a:srgbClr val="BFFF9A">
                      <a:alpha val="237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134304" cy="12337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567095" y="5486400"/>
            <a:ext cx="11153809" cy="365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E2E8F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Korelasi Pearson: St</a:t>
            </a:r>
            <a:r>
              <a:rPr lang="en-US" b="true" sz="2999">
                <a:solidFill>
                  <a:srgbClr val="E2E8F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atus perokok (smoker) memegang korelasi positif paling kuat terhadap biaya medis (0,787), mengalahkan faktor usia (0,299) dan BMI (0,198).</a:t>
            </a: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b="true" sz="2999">
                <a:solidFill>
                  <a:srgbClr val="E2E8F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Perbandingan Biaya: Rata-rata tagihan perokok mencapai $32.050, sedangkan non-perokok hanya $8.434. Kebiasaan merokok menaikkan biaya asuransi hingga 3,8 kali lipat.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373976" y="1190625"/>
            <a:ext cx="5540047" cy="3507665"/>
          </a:xfrm>
          <a:custGeom>
            <a:avLst/>
            <a:gdLst/>
            <a:ahLst/>
            <a:cxnLst/>
            <a:rect r="r" b="b" t="t" l="l"/>
            <a:pathLst>
              <a:path h="3507665" w="5540047">
                <a:moveTo>
                  <a:pt x="0" y="0"/>
                </a:moveTo>
                <a:lnTo>
                  <a:pt x="5540048" y="0"/>
                </a:lnTo>
                <a:lnTo>
                  <a:pt x="5540048" y="3507665"/>
                </a:lnTo>
                <a:lnTo>
                  <a:pt x="0" y="35076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00710" y="83737"/>
            <a:ext cx="17548492" cy="1280988"/>
            <a:chOff x="0" y="0"/>
            <a:chExt cx="23397989" cy="170798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0838750" y="364655"/>
              <a:ext cx="2559239" cy="755376"/>
              <a:chOff x="0" y="0"/>
              <a:chExt cx="505529" cy="1492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74605" y="0"/>
                    </a:moveTo>
                    <a:lnTo>
                      <a:pt x="430924" y="0"/>
                    </a:lnTo>
                    <a:cubicBezTo>
                      <a:pt x="472127" y="0"/>
                      <a:pt x="505529" y="33402"/>
                      <a:pt x="505529" y="74605"/>
                    </a:cubicBezTo>
                    <a:lnTo>
                      <a:pt x="505529" y="74605"/>
                    </a:lnTo>
                    <a:cubicBezTo>
                      <a:pt x="505529" y="115808"/>
                      <a:pt x="472127" y="149210"/>
                      <a:pt x="430924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F4F0E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Kelompok 03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62992" y="288181"/>
              <a:ext cx="5114073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1"/>
                </a:lnSpc>
              </a:pPr>
              <a:r>
                <a:rPr lang="en-US" sz="2051" spc="4">
                  <a:solidFill>
                    <a:srgbClr val="F4F0E4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2241" cy="1707984"/>
            </a:xfrm>
            <a:custGeom>
              <a:avLst/>
              <a:gdLst/>
              <a:ahLst/>
              <a:cxnLst/>
              <a:rect r="r" b="b" t="t" l="l"/>
              <a:pathLst>
                <a:path h="1707984" w="1522241">
                  <a:moveTo>
                    <a:pt x="0" y="0"/>
                  </a:moveTo>
                  <a:lnTo>
                    <a:pt x="1522241" y="0"/>
                  </a:lnTo>
                  <a:lnTo>
                    <a:pt x="1522241" y="1707984"/>
                  </a:lnTo>
                  <a:lnTo>
                    <a:pt x="0" y="17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143" y="-1952636"/>
            <a:ext cx="21571064" cy="16372168"/>
            <a:chOff x="0" y="0"/>
            <a:chExt cx="5681268" cy="4312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1268" cy="4312011"/>
            </a:xfrm>
            <a:custGeom>
              <a:avLst/>
              <a:gdLst/>
              <a:ahLst/>
              <a:cxnLst/>
              <a:rect r="r" b="b" t="t" l="l"/>
              <a:pathLst>
                <a:path h="4312011" w="5681268">
                  <a:moveTo>
                    <a:pt x="0" y="0"/>
                  </a:moveTo>
                  <a:lnTo>
                    <a:pt x="5681268" y="0"/>
                  </a:lnTo>
                  <a:lnTo>
                    <a:pt x="5681268" y="4312011"/>
                  </a:lnTo>
                  <a:lnTo>
                    <a:pt x="0" y="4312011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1268" cy="4350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8048" y="-2056045"/>
            <a:ext cx="19526048" cy="14644536"/>
          </a:xfrm>
          <a:custGeom>
            <a:avLst/>
            <a:gdLst/>
            <a:ahLst/>
            <a:cxnLst/>
            <a:rect r="r" b="b" t="t" l="l"/>
            <a:pathLst>
              <a:path h="14644536" w="19526048">
                <a:moveTo>
                  <a:pt x="0" y="0"/>
                </a:moveTo>
                <a:lnTo>
                  <a:pt x="19526048" y="0"/>
                </a:lnTo>
                <a:lnTo>
                  <a:pt x="19526048" y="14644536"/>
                </a:lnTo>
                <a:lnTo>
                  <a:pt x="0" y="1464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742513" y="83737"/>
            <a:ext cx="13948733" cy="10364972"/>
          </a:xfrm>
          <a:custGeom>
            <a:avLst/>
            <a:gdLst/>
            <a:ahLst/>
            <a:cxnLst/>
            <a:rect r="r" b="b" t="t" l="l"/>
            <a:pathLst>
              <a:path h="10364972" w="13948733">
                <a:moveTo>
                  <a:pt x="0" y="0"/>
                </a:moveTo>
                <a:lnTo>
                  <a:pt x="13948733" y="0"/>
                </a:lnTo>
                <a:lnTo>
                  <a:pt x="13948733" y="10364972"/>
                </a:lnTo>
                <a:lnTo>
                  <a:pt x="0" y="10364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-1136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19282" y="83737"/>
            <a:ext cx="15687568" cy="12981438"/>
          </a:xfrm>
          <a:custGeom>
            <a:avLst/>
            <a:gdLst/>
            <a:ahLst/>
            <a:cxnLst/>
            <a:rect r="r" b="b" t="t" l="l"/>
            <a:pathLst>
              <a:path h="12981438" w="15687568">
                <a:moveTo>
                  <a:pt x="0" y="0"/>
                </a:moveTo>
                <a:lnTo>
                  <a:pt x="15687568" y="0"/>
                </a:lnTo>
                <a:lnTo>
                  <a:pt x="15687568" y="12981439"/>
                </a:lnTo>
                <a:lnTo>
                  <a:pt x="0" y="12981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4711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7409" y="-321449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0"/>
                </a:moveTo>
                <a:lnTo>
                  <a:pt x="18442818" y="0"/>
                </a:lnTo>
                <a:lnTo>
                  <a:pt x="18442818" y="18442817"/>
                </a:lnTo>
                <a:lnTo>
                  <a:pt x="0" y="18442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7409" y="-7856683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18442817"/>
                </a:moveTo>
                <a:lnTo>
                  <a:pt x="18442818" y="18442817"/>
                </a:lnTo>
                <a:lnTo>
                  <a:pt x="18442818" y="0"/>
                </a:lnTo>
                <a:lnTo>
                  <a:pt x="0" y="0"/>
                </a:lnTo>
                <a:lnTo>
                  <a:pt x="0" y="184428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0" y="3425883"/>
            <a:ext cx="11900561" cy="6297148"/>
            <a:chOff x="0" y="0"/>
            <a:chExt cx="3134304" cy="165850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4304" cy="1658508"/>
            </a:xfrm>
            <a:custGeom>
              <a:avLst/>
              <a:gdLst/>
              <a:ahLst/>
              <a:cxnLst/>
              <a:rect r="r" b="b" t="t" l="l"/>
              <a:pathLst>
                <a:path h="1658508" w="3134304">
                  <a:moveTo>
                    <a:pt x="33178" y="0"/>
                  </a:moveTo>
                  <a:lnTo>
                    <a:pt x="3101126" y="0"/>
                  </a:lnTo>
                  <a:cubicBezTo>
                    <a:pt x="3109925" y="0"/>
                    <a:pt x="3118365" y="3496"/>
                    <a:pt x="3124587" y="9718"/>
                  </a:cubicBezTo>
                  <a:cubicBezTo>
                    <a:pt x="3130809" y="15940"/>
                    <a:pt x="3134304" y="24379"/>
                    <a:pt x="3134304" y="33178"/>
                  </a:cubicBezTo>
                  <a:lnTo>
                    <a:pt x="3134304" y="1625330"/>
                  </a:lnTo>
                  <a:cubicBezTo>
                    <a:pt x="3134304" y="1634129"/>
                    <a:pt x="3130809" y="1642568"/>
                    <a:pt x="3124587" y="1648790"/>
                  </a:cubicBezTo>
                  <a:cubicBezTo>
                    <a:pt x="3118365" y="1655013"/>
                    <a:pt x="3109925" y="1658508"/>
                    <a:pt x="3101126" y="1658508"/>
                  </a:cubicBezTo>
                  <a:lnTo>
                    <a:pt x="33178" y="1658508"/>
                  </a:lnTo>
                  <a:cubicBezTo>
                    <a:pt x="24379" y="1658508"/>
                    <a:pt x="15940" y="1655013"/>
                    <a:pt x="9718" y="1648790"/>
                  </a:cubicBezTo>
                  <a:cubicBezTo>
                    <a:pt x="3496" y="1642568"/>
                    <a:pt x="0" y="1634129"/>
                    <a:pt x="0" y="1625330"/>
                  </a:cubicBezTo>
                  <a:lnTo>
                    <a:pt x="0" y="33178"/>
                  </a:lnTo>
                  <a:cubicBezTo>
                    <a:pt x="0" y="24379"/>
                    <a:pt x="3496" y="15940"/>
                    <a:pt x="9718" y="9718"/>
                  </a:cubicBezTo>
                  <a:cubicBezTo>
                    <a:pt x="15940" y="3496"/>
                    <a:pt x="24379" y="0"/>
                    <a:pt x="33178" y="0"/>
                  </a:cubicBez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 w="76200" cap="rnd">
              <a:gradFill>
                <a:gsLst>
                  <a:gs pos="0">
                    <a:srgbClr val="D8D8D8">
                      <a:alpha val="41700"/>
                    </a:srgbClr>
                  </a:gs>
                  <a:gs pos="100000">
                    <a:srgbClr val="BFFF9A">
                      <a:alpha val="237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134304" cy="17156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00355" y="3808874"/>
            <a:ext cx="11499851" cy="522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Po</a:t>
            </a: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la BMI vs Charges: Obesitas (BMI $\ge$ 30) tidak secara otomatis membuat biaya medis mahal.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Bukti Interaksi: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A.</a:t>
            </a: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Pada kelompok non-perokok, obesitas hanya menaikkan biaya rata-rata sebesar 11%.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B.</a:t>
            </a: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Pada kelompok perokok, obesitas memicu lonjakan biaya rata-rata sebesar 95% (hampir dua kali lipat).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C.</a:t>
            </a: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I</a:t>
            </a: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nsight: Efek BMI berlipat ganda dan baru terlihat signifikan ketika berinteraksi dengan kebiasaan merokok.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2168128" y="3875549"/>
            <a:ext cx="5781074" cy="4715797"/>
          </a:xfrm>
          <a:custGeom>
            <a:avLst/>
            <a:gdLst/>
            <a:ahLst/>
            <a:cxnLst/>
            <a:rect r="r" b="b" t="t" l="l"/>
            <a:pathLst>
              <a:path h="4715797" w="5781074">
                <a:moveTo>
                  <a:pt x="0" y="0"/>
                </a:moveTo>
                <a:lnTo>
                  <a:pt x="5781073" y="0"/>
                </a:lnTo>
                <a:lnTo>
                  <a:pt x="5781073" y="4715798"/>
                </a:lnTo>
                <a:lnTo>
                  <a:pt x="0" y="47157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400710" y="83737"/>
            <a:ext cx="17548492" cy="1280988"/>
            <a:chOff x="0" y="0"/>
            <a:chExt cx="23397989" cy="170798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0838750" y="364655"/>
              <a:ext cx="2559239" cy="755376"/>
              <a:chOff x="0" y="0"/>
              <a:chExt cx="505529" cy="1492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74605" y="0"/>
                    </a:moveTo>
                    <a:lnTo>
                      <a:pt x="430924" y="0"/>
                    </a:lnTo>
                    <a:cubicBezTo>
                      <a:pt x="472127" y="0"/>
                      <a:pt x="505529" y="33402"/>
                      <a:pt x="505529" y="74605"/>
                    </a:cubicBezTo>
                    <a:lnTo>
                      <a:pt x="505529" y="74605"/>
                    </a:lnTo>
                    <a:cubicBezTo>
                      <a:pt x="505529" y="115808"/>
                      <a:pt x="472127" y="149210"/>
                      <a:pt x="430924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F4F0E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Kelompok 03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62992" y="288181"/>
              <a:ext cx="5114073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1"/>
                </a:lnSpc>
              </a:pPr>
              <a:r>
                <a:rPr lang="en-US" sz="2051" spc="4">
                  <a:solidFill>
                    <a:srgbClr val="F4F0E4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2241" cy="1707984"/>
            </a:xfrm>
            <a:custGeom>
              <a:avLst/>
              <a:gdLst/>
              <a:ahLst/>
              <a:cxnLst/>
              <a:rect r="r" b="b" t="t" l="l"/>
              <a:pathLst>
                <a:path h="1707984" w="1522241">
                  <a:moveTo>
                    <a:pt x="0" y="0"/>
                  </a:moveTo>
                  <a:lnTo>
                    <a:pt x="1522241" y="0"/>
                  </a:lnTo>
                  <a:lnTo>
                    <a:pt x="1522241" y="1707984"/>
                  </a:lnTo>
                  <a:lnTo>
                    <a:pt x="0" y="17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143" y="-1952636"/>
            <a:ext cx="21571064" cy="16372168"/>
            <a:chOff x="0" y="0"/>
            <a:chExt cx="5681268" cy="4312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1268" cy="4312011"/>
            </a:xfrm>
            <a:custGeom>
              <a:avLst/>
              <a:gdLst/>
              <a:ahLst/>
              <a:cxnLst/>
              <a:rect r="r" b="b" t="t" l="l"/>
              <a:pathLst>
                <a:path h="4312011" w="5681268">
                  <a:moveTo>
                    <a:pt x="0" y="0"/>
                  </a:moveTo>
                  <a:lnTo>
                    <a:pt x="5681268" y="0"/>
                  </a:lnTo>
                  <a:lnTo>
                    <a:pt x="5681268" y="4312011"/>
                  </a:lnTo>
                  <a:lnTo>
                    <a:pt x="0" y="4312011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1268" cy="4350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8048" y="-2056045"/>
            <a:ext cx="19526048" cy="14644536"/>
          </a:xfrm>
          <a:custGeom>
            <a:avLst/>
            <a:gdLst/>
            <a:ahLst/>
            <a:cxnLst/>
            <a:rect r="r" b="b" t="t" l="l"/>
            <a:pathLst>
              <a:path h="14644536" w="19526048">
                <a:moveTo>
                  <a:pt x="0" y="0"/>
                </a:moveTo>
                <a:lnTo>
                  <a:pt x="19526048" y="0"/>
                </a:lnTo>
                <a:lnTo>
                  <a:pt x="19526048" y="14644536"/>
                </a:lnTo>
                <a:lnTo>
                  <a:pt x="0" y="1464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742513" y="83737"/>
            <a:ext cx="13948733" cy="10364972"/>
          </a:xfrm>
          <a:custGeom>
            <a:avLst/>
            <a:gdLst/>
            <a:ahLst/>
            <a:cxnLst/>
            <a:rect r="r" b="b" t="t" l="l"/>
            <a:pathLst>
              <a:path h="10364972" w="13948733">
                <a:moveTo>
                  <a:pt x="0" y="0"/>
                </a:moveTo>
                <a:lnTo>
                  <a:pt x="13948733" y="0"/>
                </a:lnTo>
                <a:lnTo>
                  <a:pt x="13948733" y="10364972"/>
                </a:lnTo>
                <a:lnTo>
                  <a:pt x="0" y="10364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-1136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19282" y="83737"/>
            <a:ext cx="15687568" cy="12981438"/>
          </a:xfrm>
          <a:custGeom>
            <a:avLst/>
            <a:gdLst/>
            <a:ahLst/>
            <a:cxnLst/>
            <a:rect r="r" b="b" t="t" l="l"/>
            <a:pathLst>
              <a:path h="12981438" w="15687568">
                <a:moveTo>
                  <a:pt x="0" y="0"/>
                </a:moveTo>
                <a:lnTo>
                  <a:pt x="15687568" y="0"/>
                </a:lnTo>
                <a:lnTo>
                  <a:pt x="15687568" y="12981439"/>
                </a:lnTo>
                <a:lnTo>
                  <a:pt x="0" y="12981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4711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7409" y="-321449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0"/>
                </a:moveTo>
                <a:lnTo>
                  <a:pt x="18442818" y="0"/>
                </a:lnTo>
                <a:lnTo>
                  <a:pt x="18442818" y="18442817"/>
                </a:lnTo>
                <a:lnTo>
                  <a:pt x="0" y="18442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7409" y="-7856683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18442817"/>
                </a:moveTo>
                <a:lnTo>
                  <a:pt x="18442818" y="18442817"/>
                </a:lnTo>
                <a:lnTo>
                  <a:pt x="18442818" y="0"/>
                </a:lnTo>
                <a:lnTo>
                  <a:pt x="0" y="0"/>
                </a:lnTo>
                <a:lnTo>
                  <a:pt x="0" y="184428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5906" y="4607474"/>
            <a:ext cx="17316189" cy="5115556"/>
            <a:chOff x="0" y="0"/>
            <a:chExt cx="4560642" cy="13473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60642" cy="1347307"/>
            </a:xfrm>
            <a:custGeom>
              <a:avLst/>
              <a:gdLst/>
              <a:ahLst/>
              <a:cxnLst/>
              <a:rect r="r" b="b" t="t" l="l"/>
              <a:pathLst>
                <a:path h="1347307" w="4560642">
                  <a:moveTo>
                    <a:pt x="22802" y="0"/>
                  </a:moveTo>
                  <a:lnTo>
                    <a:pt x="4537840" y="0"/>
                  </a:lnTo>
                  <a:cubicBezTo>
                    <a:pt x="4550433" y="0"/>
                    <a:pt x="4560642" y="10209"/>
                    <a:pt x="4560642" y="22802"/>
                  </a:cubicBezTo>
                  <a:lnTo>
                    <a:pt x="4560642" y="1324505"/>
                  </a:lnTo>
                  <a:cubicBezTo>
                    <a:pt x="4560642" y="1337098"/>
                    <a:pt x="4550433" y="1347307"/>
                    <a:pt x="4537840" y="1347307"/>
                  </a:cubicBezTo>
                  <a:lnTo>
                    <a:pt x="22802" y="1347307"/>
                  </a:lnTo>
                  <a:cubicBezTo>
                    <a:pt x="16754" y="1347307"/>
                    <a:pt x="10955" y="1344905"/>
                    <a:pt x="6678" y="1340628"/>
                  </a:cubicBezTo>
                  <a:cubicBezTo>
                    <a:pt x="2402" y="1336352"/>
                    <a:pt x="0" y="1330553"/>
                    <a:pt x="0" y="1324505"/>
                  </a:cubicBezTo>
                  <a:lnTo>
                    <a:pt x="0" y="22802"/>
                  </a:lnTo>
                  <a:cubicBezTo>
                    <a:pt x="0" y="10209"/>
                    <a:pt x="10209" y="0"/>
                    <a:pt x="22802" y="0"/>
                  </a:cubicBez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 w="76200" cap="rnd">
              <a:gradFill>
                <a:gsLst>
                  <a:gs pos="0">
                    <a:srgbClr val="D8D8D8">
                      <a:alpha val="41700"/>
                    </a:srgbClr>
                  </a:gs>
                  <a:gs pos="100000">
                    <a:srgbClr val="BFFF9A">
                      <a:alpha val="237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560642" cy="140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668276" y="1601969"/>
            <a:ext cx="14039277" cy="2768262"/>
          </a:xfrm>
          <a:custGeom>
            <a:avLst/>
            <a:gdLst/>
            <a:ahLst/>
            <a:cxnLst/>
            <a:rect r="r" b="b" t="t" l="l"/>
            <a:pathLst>
              <a:path h="2768262" w="14039277">
                <a:moveTo>
                  <a:pt x="0" y="0"/>
                </a:moveTo>
                <a:lnTo>
                  <a:pt x="14039277" y="0"/>
                </a:lnTo>
                <a:lnTo>
                  <a:pt x="14039277" y="2768262"/>
                </a:lnTo>
                <a:lnTo>
                  <a:pt x="0" y="27682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0339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727561" y="5199548"/>
            <a:ext cx="16894790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D</a:t>
            </a: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ata Splitting: Pembagian 80% data latih (1.069 baris) dan 20% data uji (268 baris). Menggunakan parameter stratify=smoker agar proporsi perokok (20,5%) seimbang di kedua set.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Standardisasi (Scaling): Menggunakan StandardScaler pada fitur numerik. Fit dilakukan murni hanya pada data latih agar parameter rata-rata dan standar deviasi tidak bocor ke data uji.</a:t>
            </a:r>
          </a:p>
          <a:p>
            <a:pPr algn="just">
              <a:lnSpc>
                <a:spcPts val="4199"/>
              </a:lnSpc>
            </a:pPr>
          </a:p>
        </p:txBody>
      </p:sp>
      <p:grpSp>
        <p:nvGrpSpPr>
          <p:cNvPr name="Group 15" id="15"/>
          <p:cNvGrpSpPr/>
          <p:nvPr/>
        </p:nvGrpSpPr>
        <p:grpSpPr>
          <a:xfrm rot="0">
            <a:off x="400710" y="83737"/>
            <a:ext cx="17548492" cy="1280988"/>
            <a:chOff x="0" y="0"/>
            <a:chExt cx="23397989" cy="170798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0838750" y="364655"/>
              <a:ext cx="2559239" cy="755376"/>
              <a:chOff x="0" y="0"/>
              <a:chExt cx="505529" cy="1492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74605" y="0"/>
                    </a:moveTo>
                    <a:lnTo>
                      <a:pt x="430924" y="0"/>
                    </a:lnTo>
                    <a:cubicBezTo>
                      <a:pt x="472127" y="0"/>
                      <a:pt x="505529" y="33402"/>
                      <a:pt x="505529" y="74605"/>
                    </a:cubicBezTo>
                    <a:lnTo>
                      <a:pt x="505529" y="74605"/>
                    </a:lnTo>
                    <a:cubicBezTo>
                      <a:pt x="505529" y="115808"/>
                      <a:pt x="472127" y="149210"/>
                      <a:pt x="430924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F4F0E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Kelompok 03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62992" y="288181"/>
              <a:ext cx="5114073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1"/>
                </a:lnSpc>
              </a:pPr>
              <a:r>
                <a:rPr lang="en-US" sz="2051" spc="4">
                  <a:solidFill>
                    <a:srgbClr val="F4F0E4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2241" cy="1707984"/>
            </a:xfrm>
            <a:custGeom>
              <a:avLst/>
              <a:gdLst/>
              <a:ahLst/>
              <a:cxnLst/>
              <a:rect r="r" b="b" t="t" l="l"/>
              <a:pathLst>
                <a:path h="1707984" w="1522241">
                  <a:moveTo>
                    <a:pt x="0" y="0"/>
                  </a:moveTo>
                  <a:lnTo>
                    <a:pt x="1522241" y="0"/>
                  </a:lnTo>
                  <a:lnTo>
                    <a:pt x="1522241" y="1707984"/>
                  </a:lnTo>
                  <a:lnTo>
                    <a:pt x="0" y="17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143" y="-1952636"/>
            <a:ext cx="21571064" cy="16372168"/>
            <a:chOff x="0" y="0"/>
            <a:chExt cx="5681268" cy="4312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1268" cy="4312011"/>
            </a:xfrm>
            <a:custGeom>
              <a:avLst/>
              <a:gdLst/>
              <a:ahLst/>
              <a:cxnLst/>
              <a:rect r="r" b="b" t="t" l="l"/>
              <a:pathLst>
                <a:path h="4312011" w="5681268">
                  <a:moveTo>
                    <a:pt x="0" y="0"/>
                  </a:moveTo>
                  <a:lnTo>
                    <a:pt x="5681268" y="0"/>
                  </a:lnTo>
                  <a:lnTo>
                    <a:pt x="5681268" y="4312011"/>
                  </a:lnTo>
                  <a:lnTo>
                    <a:pt x="0" y="4312011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1268" cy="4350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8048" y="-2056045"/>
            <a:ext cx="19526048" cy="14644536"/>
          </a:xfrm>
          <a:custGeom>
            <a:avLst/>
            <a:gdLst/>
            <a:ahLst/>
            <a:cxnLst/>
            <a:rect r="r" b="b" t="t" l="l"/>
            <a:pathLst>
              <a:path h="14644536" w="19526048">
                <a:moveTo>
                  <a:pt x="0" y="0"/>
                </a:moveTo>
                <a:lnTo>
                  <a:pt x="19526048" y="0"/>
                </a:lnTo>
                <a:lnTo>
                  <a:pt x="19526048" y="14644536"/>
                </a:lnTo>
                <a:lnTo>
                  <a:pt x="0" y="1464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742513" y="83737"/>
            <a:ext cx="13948733" cy="10364972"/>
          </a:xfrm>
          <a:custGeom>
            <a:avLst/>
            <a:gdLst/>
            <a:ahLst/>
            <a:cxnLst/>
            <a:rect r="r" b="b" t="t" l="l"/>
            <a:pathLst>
              <a:path h="10364972" w="13948733">
                <a:moveTo>
                  <a:pt x="0" y="0"/>
                </a:moveTo>
                <a:lnTo>
                  <a:pt x="13948733" y="0"/>
                </a:lnTo>
                <a:lnTo>
                  <a:pt x="13948733" y="10364972"/>
                </a:lnTo>
                <a:lnTo>
                  <a:pt x="0" y="10364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-1136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19282" y="83737"/>
            <a:ext cx="15687568" cy="12981438"/>
          </a:xfrm>
          <a:custGeom>
            <a:avLst/>
            <a:gdLst/>
            <a:ahLst/>
            <a:cxnLst/>
            <a:rect r="r" b="b" t="t" l="l"/>
            <a:pathLst>
              <a:path h="12981438" w="15687568">
                <a:moveTo>
                  <a:pt x="0" y="0"/>
                </a:moveTo>
                <a:lnTo>
                  <a:pt x="15687568" y="0"/>
                </a:lnTo>
                <a:lnTo>
                  <a:pt x="15687568" y="12981439"/>
                </a:lnTo>
                <a:lnTo>
                  <a:pt x="0" y="12981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4711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7409" y="-321449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0"/>
                </a:moveTo>
                <a:lnTo>
                  <a:pt x="18442818" y="0"/>
                </a:lnTo>
                <a:lnTo>
                  <a:pt x="18442818" y="18442817"/>
                </a:lnTo>
                <a:lnTo>
                  <a:pt x="0" y="18442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7409" y="-7856683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18442817"/>
                </a:moveTo>
                <a:lnTo>
                  <a:pt x="18442818" y="18442817"/>
                </a:lnTo>
                <a:lnTo>
                  <a:pt x="18442818" y="0"/>
                </a:lnTo>
                <a:lnTo>
                  <a:pt x="0" y="0"/>
                </a:lnTo>
                <a:lnTo>
                  <a:pt x="0" y="184428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485906" y="4607474"/>
            <a:ext cx="17316189" cy="5115556"/>
            <a:chOff x="0" y="0"/>
            <a:chExt cx="4560642" cy="13473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560642" cy="1347307"/>
            </a:xfrm>
            <a:custGeom>
              <a:avLst/>
              <a:gdLst/>
              <a:ahLst/>
              <a:cxnLst/>
              <a:rect r="r" b="b" t="t" l="l"/>
              <a:pathLst>
                <a:path h="1347307" w="4560642">
                  <a:moveTo>
                    <a:pt x="22802" y="0"/>
                  </a:moveTo>
                  <a:lnTo>
                    <a:pt x="4537840" y="0"/>
                  </a:lnTo>
                  <a:cubicBezTo>
                    <a:pt x="4550433" y="0"/>
                    <a:pt x="4560642" y="10209"/>
                    <a:pt x="4560642" y="22802"/>
                  </a:cubicBezTo>
                  <a:lnTo>
                    <a:pt x="4560642" y="1324505"/>
                  </a:lnTo>
                  <a:cubicBezTo>
                    <a:pt x="4560642" y="1337098"/>
                    <a:pt x="4550433" y="1347307"/>
                    <a:pt x="4537840" y="1347307"/>
                  </a:cubicBezTo>
                  <a:lnTo>
                    <a:pt x="22802" y="1347307"/>
                  </a:lnTo>
                  <a:cubicBezTo>
                    <a:pt x="16754" y="1347307"/>
                    <a:pt x="10955" y="1344905"/>
                    <a:pt x="6678" y="1340628"/>
                  </a:cubicBezTo>
                  <a:cubicBezTo>
                    <a:pt x="2402" y="1336352"/>
                    <a:pt x="0" y="1330553"/>
                    <a:pt x="0" y="1324505"/>
                  </a:cubicBezTo>
                  <a:lnTo>
                    <a:pt x="0" y="22802"/>
                  </a:lnTo>
                  <a:cubicBezTo>
                    <a:pt x="0" y="10209"/>
                    <a:pt x="10209" y="0"/>
                    <a:pt x="22802" y="0"/>
                  </a:cubicBez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 w="76200" cap="rnd">
              <a:gradFill>
                <a:gsLst>
                  <a:gs pos="0">
                    <a:srgbClr val="D8D8D8">
                      <a:alpha val="41700"/>
                    </a:srgbClr>
                  </a:gs>
                  <a:gs pos="100000">
                    <a:srgbClr val="BFFF9A">
                      <a:alpha val="237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560642" cy="1404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27561" y="1493641"/>
            <a:ext cx="6631355" cy="2984917"/>
          </a:xfrm>
          <a:custGeom>
            <a:avLst/>
            <a:gdLst/>
            <a:ahLst/>
            <a:cxnLst/>
            <a:rect r="r" b="b" t="t" l="l"/>
            <a:pathLst>
              <a:path h="2984917" w="6631355">
                <a:moveTo>
                  <a:pt x="0" y="0"/>
                </a:moveTo>
                <a:lnTo>
                  <a:pt x="6631355" y="0"/>
                </a:lnTo>
                <a:lnTo>
                  <a:pt x="6631355" y="2984917"/>
                </a:lnTo>
                <a:lnTo>
                  <a:pt x="0" y="298491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562480" y="1395206"/>
            <a:ext cx="5053711" cy="3181788"/>
          </a:xfrm>
          <a:custGeom>
            <a:avLst/>
            <a:gdLst/>
            <a:ahLst/>
            <a:cxnLst/>
            <a:rect r="r" b="b" t="t" l="l"/>
            <a:pathLst>
              <a:path h="3181788" w="5053711">
                <a:moveTo>
                  <a:pt x="0" y="0"/>
                </a:moveTo>
                <a:lnTo>
                  <a:pt x="5053712" y="0"/>
                </a:lnTo>
                <a:lnTo>
                  <a:pt x="5053712" y="3181788"/>
                </a:lnTo>
                <a:lnTo>
                  <a:pt x="0" y="31817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-3297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0710" y="4889834"/>
            <a:ext cx="17162356" cy="418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Ev</a:t>
            </a: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aluasi Model: Model Regresi Linear berhasil memperoleh skor $R^2$ sebesar 0,820 pada data uji. Artinya, model mampu menjelaskan 82% variasi biaya medis.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Tingkat Error (RMSE): Rata-rata error prediksi adalah $5.087 (sekitar 39,2% dari rata-rata tagihan).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Fitur Paling Berpengaruh: Berdasarkan grafik koefisien standar, status Perokok (smoker) memberikan lonjakan biaya asuransi yang paling ekstrem dibandingkan usia maupun BMI.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00710" y="83737"/>
            <a:ext cx="17548492" cy="1280988"/>
            <a:chOff x="0" y="0"/>
            <a:chExt cx="23397989" cy="1707984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20838750" y="364655"/>
              <a:ext cx="2559239" cy="755376"/>
              <a:chOff x="0" y="0"/>
              <a:chExt cx="505529" cy="14921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74605" y="0"/>
                    </a:moveTo>
                    <a:lnTo>
                      <a:pt x="430924" y="0"/>
                    </a:lnTo>
                    <a:cubicBezTo>
                      <a:pt x="472127" y="0"/>
                      <a:pt x="505529" y="33402"/>
                      <a:pt x="505529" y="74605"/>
                    </a:cubicBezTo>
                    <a:lnTo>
                      <a:pt x="505529" y="74605"/>
                    </a:lnTo>
                    <a:cubicBezTo>
                      <a:pt x="505529" y="115808"/>
                      <a:pt x="472127" y="149210"/>
                      <a:pt x="430924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F4F0E4"/>
              </a:solidFill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Kelompok 03</a:t>
                </a: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1662992" y="288181"/>
              <a:ext cx="5114073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1"/>
                </a:lnSpc>
              </a:pPr>
              <a:r>
                <a:rPr lang="en-US" sz="2051" spc="4">
                  <a:solidFill>
                    <a:srgbClr val="F4F0E4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</a:p>
          </p:txBody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2241" cy="1707984"/>
            </a:xfrm>
            <a:custGeom>
              <a:avLst/>
              <a:gdLst/>
              <a:ahLst/>
              <a:cxnLst/>
              <a:rect r="r" b="b" t="t" l="l"/>
              <a:pathLst>
                <a:path h="1707984" w="1522241">
                  <a:moveTo>
                    <a:pt x="0" y="0"/>
                  </a:moveTo>
                  <a:lnTo>
                    <a:pt x="1522241" y="0"/>
                  </a:lnTo>
                  <a:lnTo>
                    <a:pt x="1522241" y="1707984"/>
                  </a:lnTo>
                  <a:lnTo>
                    <a:pt x="0" y="17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01143" y="-1952636"/>
            <a:ext cx="21571064" cy="16372168"/>
            <a:chOff x="0" y="0"/>
            <a:chExt cx="5681268" cy="43120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681268" cy="4312011"/>
            </a:xfrm>
            <a:custGeom>
              <a:avLst/>
              <a:gdLst/>
              <a:ahLst/>
              <a:cxnLst/>
              <a:rect r="r" b="b" t="t" l="l"/>
              <a:pathLst>
                <a:path h="4312011" w="5681268">
                  <a:moveTo>
                    <a:pt x="0" y="0"/>
                  </a:moveTo>
                  <a:lnTo>
                    <a:pt x="5681268" y="0"/>
                  </a:lnTo>
                  <a:lnTo>
                    <a:pt x="5681268" y="4312011"/>
                  </a:lnTo>
                  <a:lnTo>
                    <a:pt x="0" y="4312011"/>
                  </a:lnTo>
                  <a:close/>
                </a:path>
              </a:pathLst>
            </a:custGeom>
            <a:solidFill>
              <a:srgbClr val="0F172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681268" cy="43501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238048" y="-2056045"/>
            <a:ext cx="19526048" cy="14644536"/>
          </a:xfrm>
          <a:custGeom>
            <a:avLst/>
            <a:gdLst/>
            <a:ahLst/>
            <a:cxnLst/>
            <a:rect r="r" b="b" t="t" l="l"/>
            <a:pathLst>
              <a:path h="14644536" w="19526048">
                <a:moveTo>
                  <a:pt x="0" y="0"/>
                </a:moveTo>
                <a:lnTo>
                  <a:pt x="19526048" y="0"/>
                </a:lnTo>
                <a:lnTo>
                  <a:pt x="19526048" y="14644536"/>
                </a:lnTo>
                <a:lnTo>
                  <a:pt x="0" y="14644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7742513" y="83737"/>
            <a:ext cx="13948733" cy="10364972"/>
          </a:xfrm>
          <a:custGeom>
            <a:avLst/>
            <a:gdLst/>
            <a:ahLst/>
            <a:cxnLst/>
            <a:rect r="r" b="b" t="t" l="l"/>
            <a:pathLst>
              <a:path h="10364972" w="13948733">
                <a:moveTo>
                  <a:pt x="0" y="0"/>
                </a:moveTo>
                <a:lnTo>
                  <a:pt x="13948733" y="0"/>
                </a:lnTo>
                <a:lnTo>
                  <a:pt x="13948733" y="10364972"/>
                </a:lnTo>
                <a:lnTo>
                  <a:pt x="0" y="103649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0000"/>
            </a:blip>
            <a:stretch>
              <a:fillRect l="-1136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19282" y="83737"/>
            <a:ext cx="15687568" cy="12981438"/>
          </a:xfrm>
          <a:custGeom>
            <a:avLst/>
            <a:gdLst/>
            <a:ahLst/>
            <a:cxnLst/>
            <a:rect r="r" b="b" t="t" l="l"/>
            <a:pathLst>
              <a:path h="12981438" w="15687568">
                <a:moveTo>
                  <a:pt x="0" y="0"/>
                </a:moveTo>
                <a:lnTo>
                  <a:pt x="15687568" y="0"/>
                </a:lnTo>
                <a:lnTo>
                  <a:pt x="15687568" y="12981439"/>
                </a:lnTo>
                <a:lnTo>
                  <a:pt x="0" y="129814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4711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77409" y="-321449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0"/>
                </a:moveTo>
                <a:lnTo>
                  <a:pt x="18442818" y="0"/>
                </a:lnTo>
                <a:lnTo>
                  <a:pt x="18442818" y="18442817"/>
                </a:lnTo>
                <a:lnTo>
                  <a:pt x="0" y="184428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-77409" y="-7856683"/>
            <a:ext cx="18442817" cy="18442817"/>
          </a:xfrm>
          <a:custGeom>
            <a:avLst/>
            <a:gdLst/>
            <a:ahLst/>
            <a:cxnLst/>
            <a:rect r="r" b="b" t="t" l="l"/>
            <a:pathLst>
              <a:path h="18442817" w="18442817">
                <a:moveTo>
                  <a:pt x="0" y="18442817"/>
                </a:moveTo>
                <a:lnTo>
                  <a:pt x="18442818" y="18442817"/>
                </a:lnTo>
                <a:lnTo>
                  <a:pt x="18442818" y="0"/>
                </a:lnTo>
                <a:lnTo>
                  <a:pt x="0" y="0"/>
                </a:lnTo>
                <a:lnTo>
                  <a:pt x="0" y="18442817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215483" y="1530413"/>
            <a:ext cx="9586611" cy="8192617"/>
            <a:chOff x="0" y="0"/>
            <a:chExt cx="2524869" cy="2157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24869" cy="2157726"/>
            </a:xfrm>
            <a:custGeom>
              <a:avLst/>
              <a:gdLst/>
              <a:ahLst/>
              <a:cxnLst/>
              <a:rect r="r" b="b" t="t" l="l"/>
              <a:pathLst>
                <a:path h="2157726" w="2524869">
                  <a:moveTo>
                    <a:pt x="41186" y="0"/>
                  </a:moveTo>
                  <a:lnTo>
                    <a:pt x="2483682" y="0"/>
                  </a:lnTo>
                  <a:cubicBezTo>
                    <a:pt x="2506429" y="0"/>
                    <a:pt x="2524869" y="18440"/>
                    <a:pt x="2524869" y="41186"/>
                  </a:cubicBezTo>
                  <a:lnTo>
                    <a:pt x="2524869" y="2116540"/>
                  </a:lnTo>
                  <a:cubicBezTo>
                    <a:pt x="2524869" y="2139286"/>
                    <a:pt x="2506429" y="2157726"/>
                    <a:pt x="2483682" y="2157726"/>
                  </a:cubicBezTo>
                  <a:lnTo>
                    <a:pt x="41186" y="2157726"/>
                  </a:lnTo>
                  <a:cubicBezTo>
                    <a:pt x="18440" y="2157726"/>
                    <a:pt x="0" y="2139286"/>
                    <a:pt x="0" y="2116540"/>
                  </a:cubicBezTo>
                  <a:lnTo>
                    <a:pt x="0" y="41186"/>
                  </a:lnTo>
                  <a:cubicBezTo>
                    <a:pt x="0" y="18440"/>
                    <a:pt x="18440" y="0"/>
                    <a:pt x="41186" y="0"/>
                  </a:cubicBezTo>
                  <a:close/>
                </a:path>
              </a:pathLst>
            </a:custGeom>
            <a:solidFill>
              <a:srgbClr val="0F172A">
                <a:alpha val="60000"/>
              </a:srgbClr>
            </a:solidFill>
            <a:ln w="76200" cap="rnd">
              <a:gradFill>
                <a:gsLst>
                  <a:gs pos="0">
                    <a:srgbClr val="D8D8D8">
                      <a:alpha val="41700"/>
                    </a:srgbClr>
                  </a:gs>
                  <a:gs pos="100000">
                    <a:srgbClr val="BFFF9A">
                      <a:alpha val="23700"/>
                    </a:srgbClr>
                  </a:gs>
                </a:gsLst>
                <a:path path="circle">
                  <a:fillToRect l="0" r="100000" t="0" b="100000"/>
                </a:path>
                <a:tileRect r="0" l="-100000" b="0" t="-100000"/>
              </a:gra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524869" cy="22148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1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33854" y="2209712"/>
            <a:ext cx="7767780" cy="5867576"/>
          </a:xfrm>
          <a:custGeom>
            <a:avLst/>
            <a:gdLst/>
            <a:ahLst/>
            <a:cxnLst/>
            <a:rect r="r" b="b" t="t" l="l"/>
            <a:pathLst>
              <a:path h="5867576" w="7767780">
                <a:moveTo>
                  <a:pt x="0" y="0"/>
                </a:moveTo>
                <a:lnTo>
                  <a:pt x="7767780" y="0"/>
                </a:lnTo>
                <a:lnTo>
                  <a:pt x="7767780" y="5867576"/>
                </a:lnTo>
                <a:lnTo>
                  <a:pt x="0" y="5867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290792" y="1931021"/>
            <a:ext cx="9435994" cy="7324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Asums</a:t>
            </a: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i Linearitas Gagal: Plot Residual vs Prediksi menunjukkan sisa error tidak menyebar acak, melainkan terbelah menjadi beberapa kelompok terpisah.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Distribusi Tidak Normal: Q-Q plot membentuk kurva "S" (melengkung di kedua ujung), membuktikan residual tidak berdistribusi normal.</a:t>
            </a:r>
          </a:p>
          <a:p>
            <a:pPr algn="just">
              <a:lnSpc>
                <a:spcPts val="4199"/>
              </a:lnSpc>
            </a:pPr>
          </a:p>
          <a:p>
            <a:pPr algn="just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E2E8F0"/>
                </a:solidFill>
                <a:latin typeface="Public Sans"/>
                <a:ea typeface="Public Sans"/>
                <a:cs typeface="Public Sans"/>
                <a:sym typeface="Public Sans"/>
              </a:rPr>
              <a:t>Kesimpulan: Model Regresi Linear dasar terlalu sederhana. Model ini memukul rata biaya perokok, dan gagal menangkap efek "ledakan biaya" dari interaksi perokok yang mengalami obesitas.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00710" y="83737"/>
            <a:ext cx="17548492" cy="1280988"/>
            <a:chOff x="0" y="0"/>
            <a:chExt cx="23397989" cy="1707984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20838750" y="364655"/>
              <a:ext cx="2559239" cy="755376"/>
              <a:chOff x="0" y="0"/>
              <a:chExt cx="505529" cy="14921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505529" cy="149210"/>
              </a:xfrm>
              <a:custGeom>
                <a:avLst/>
                <a:gdLst/>
                <a:ahLst/>
                <a:cxnLst/>
                <a:rect r="r" b="b" t="t" l="l"/>
                <a:pathLst>
                  <a:path h="149210" w="505529">
                    <a:moveTo>
                      <a:pt x="74605" y="0"/>
                    </a:moveTo>
                    <a:lnTo>
                      <a:pt x="430924" y="0"/>
                    </a:lnTo>
                    <a:cubicBezTo>
                      <a:pt x="472127" y="0"/>
                      <a:pt x="505529" y="33402"/>
                      <a:pt x="505529" y="74605"/>
                    </a:cubicBezTo>
                    <a:lnTo>
                      <a:pt x="505529" y="74605"/>
                    </a:lnTo>
                    <a:cubicBezTo>
                      <a:pt x="505529" y="115808"/>
                      <a:pt x="472127" y="149210"/>
                      <a:pt x="430924" y="149210"/>
                    </a:cubicBezTo>
                    <a:lnTo>
                      <a:pt x="74605" y="149210"/>
                    </a:lnTo>
                    <a:cubicBezTo>
                      <a:pt x="33402" y="149210"/>
                      <a:pt x="0" y="115808"/>
                      <a:pt x="0" y="74605"/>
                    </a:cubicBezTo>
                    <a:lnTo>
                      <a:pt x="0" y="74605"/>
                    </a:lnTo>
                    <a:cubicBezTo>
                      <a:pt x="0" y="33402"/>
                      <a:pt x="33402" y="0"/>
                      <a:pt x="74605" y="0"/>
                    </a:cubicBezTo>
                    <a:close/>
                  </a:path>
                </a:pathLst>
              </a:custGeom>
              <a:solidFill>
                <a:srgbClr val="F4F0E4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57150"/>
                <a:ext cx="505529" cy="20636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  <a:r>
                  <a:rPr lang="en-US" b="true" sz="1899" spc="3">
                    <a:solidFill>
                      <a:srgbClr val="000000"/>
                    </a:solidFill>
                    <a:latin typeface="Poppins Bold"/>
                    <a:ea typeface="Poppins Bold"/>
                    <a:cs typeface="Poppins Bold"/>
                    <a:sym typeface="Poppins Bold"/>
                  </a:rPr>
                  <a:t>Kelompok 03</a:t>
                </a: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1662992" y="288181"/>
              <a:ext cx="5114073" cy="425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61"/>
                </a:lnSpc>
              </a:pPr>
              <a:r>
                <a:rPr lang="en-US" sz="2051" spc="4">
                  <a:solidFill>
                    <a:srgbClr val="F4F0E4"/>
                  </a:solidFill>
                  <a:latin typeface="Poppins"/>
                  <a:ea typeface="Poppins"/>
                  <a:cs typeface="Poppins"/>
                  <a:sym typeface="Poppins"/>
                </a:rPr>
                <a:t>MACHINE LEARNING</a:t>
              </a:r>
            </a:p>
          </p:txBody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2241" cy="1707984"/>
            </a:xfrm>
            <a:custGeom>
              <a:avLst/>
              <a:gdLst/>
              <a:ahLst/>
              <a:cxnLst/>
              <a:rect r="r" b="b" t="t" l="l"/>
              <a:pathLst>
                <a:path h="1707984" w="1522241">
                  <a:moveTo>
                    <a:pt x="0" y="0"/>
                  </a:moveTo>
                  <a:lnTo>
                    <a:pt x="1522241" y="0"/>
                  </a:lnTo>
                  <a:lnTo>
                    <a:pt x="1522241" y="1707984"/>
                  </a:lnTo>
                  <a:lnTo>
                    <a:pt x="0" y="1707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DAHGFOJYnd0</dc:identifier>
  <dcterms:modified xsi:type="dcterms:W3CDTF">2011-08-01T06:04:30Z</dcterms:modified>
  <cp:revision>1</cp:revision>
  <dc:title>hukum telekomunikasi</dc:title>
</cp:coreProperties>
</file>