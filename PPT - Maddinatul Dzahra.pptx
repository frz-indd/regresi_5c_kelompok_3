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grandir Wide Bold" charset="1" panose="00000805000000000000"/>
      <p:regular r:id="rId23"/>
    </p:embeddedFont>
    <p:embeddedFont>
      <p:font typeface="Nunito" charset="1" panose="00000000000000000000"/>
      <p:regular r:id="rId24"/>
    </p:embeddedFont>
    <p:embeddedFont>
      <p:font typeface="Nunito Bold Italics" charset="1" panose="00000000000000000000"/>
      <p:regular r:id="rId25"/>
    </p:embeddedFont>
    <p:embeddedFont>
      <p:font typeface="Nunito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857705"/>
            <a:ext cx="13053062" cy="33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EKSPLORASI DATA ASURANSI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6353020"/>
            <a:ext cx="7264894" cy="838151"/>
            <a:chOff x="0" y="0"/>
            <a:chExt cx="1913388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388" cy="220747"/>
            </a:xfrm>
            <a:custGeom>
              <a:avLst/>
              <a:gdLst/>
              <a:ahLst/>
              <a:cxnLst/>
              <a:rect r="r" b="b" t="t" l="l"/>
              <a:pathLst>
                <a:path h="220747" w="1913388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63969" y="6459862"/>
            <a:ext cx="6594356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Machine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7486760" cy="112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EDA, Preprocessing, Regresi Linear</a:t>
            </a:r>
          </a:p>
          <a:p>
            <a:pPr algn="l">
              <a:lnSpc>
                <a:spcPts val="453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708734"/>
            <a:ext cx="6680614" cy="45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Maddinatul Dzahra Aulia Gusman INF 5C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511427"/>
            <a:ext cx="8454953" cy="44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6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Dataset Medical Cost Personal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634991"/>
            <a:ext cx="8397138" cy="5623309"/>
          </a:xfrm>
          <a:custGeom>
            <a:avLst/>
            <a:gdLst/>
            <a:ahLst/>
            <a:cxnLst/>
            <a:rect r="r" b="b" t="t" l="l"/>
            <a:pathLst>
              <a:path h="5623309" w="8397138">
                <a:moveTo>
                  <a:pt x="0" y="0"/>
                </a:moveTo>
                <a:lnTo>
                  <a:pt x="8397138" y="0"/>
                </a:lnTo>
                <a:lnTo>
                  <a:pt x="8397138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25571" y="5669050"/>
            <a:ext cx="811530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1.338 orang pemegang polis asuransi kesehatan di AS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050560" y="5691579"/>
            <a:ext cx="0" cy="3996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984755" y="6357898"/>
            <a:ext cx="811530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Target: charges (biaya, USD)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041035" y="6367423"/>
            <a:ext cx="0" cy="4758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952947" y="7024216"/>
            <a:ext cx="811530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Fitur: age, sex, bmi, children, smoker, region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0050560" y="7040244"/>
            <a:ext cx="0" cy="4758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50560" y="3217151"/>
            <a:ext cx="5405728" cy="1532958"/>
            <a:chOff x="0" y="0"/>
            <a:chExt cx="1423731" cy="4037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3731" cy="403742"/>
            </a:xfrm>
            <a:custGeom>
              <a:avLst/>
              <a:gdLst/>
              <a:ahLst/>
              <a:cxnLst/>
              <a:rect r="r" b="b" t="t" l="l"/>
              <a:pathLst>
                <a:path h="403742" w="1423731">
                  <a:moveTo>
                    <a:pt x="73041" y="0"/>
                  </a:moveTo>
                  <a:lnTo>
                    <a:pt x="1350690" y="0"/>
                  </a:lnTo>
                  <a:cubicBezTo>
                    <a:pt x="1391030" y="0"/>
                    <a:pt x="1423731" y="32701"/>
                    <a:pt x="1423731" y="73041"/>
                  </a:cubicBezTo>
                  <a:lnTo>
                    <a:pt x="1423731" y="330701"/>
                  </a:lnTo>
                  <a:cubicBezTo>
                    <a:pt x="1423731" y="350073"/>
                    <a:pt x="1416036" y="368651"/>
                    <a:pt x="1402338" y="382349"/>
                  </a:cubicBezTo>
                  <a:cubicBezTo>
                    <a:pt x="1388640" y="396047"/>
                    <a:pt x="1370062" y="403742"/>
                    <a:pt x="1350690" y="403742"/>
                  </a:cubicBezTo>
                  <a:lnTo>
                    <a:pt x="73041" y="403742"/>
                  </a:lnTo>
                  <a:cubicBezTo>
                    <a:pt x="32701" y="403742"/>
                    <a:pt x="0" y="371041"/>
                    <a:pt x="0" y="330701"/>
                  </a:cubicBezTo>
                  <a:lnTo>
                    <a:pt x="0" y="73041"/>
                  </a:lnTo>
                  <a:cubicBezTo>
                    <a:pt x="0" y="32701"/>
                    <a:pt x="32701" y="0"/>
                    <a:pt x="7304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423731" cy="49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8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1375895"/>
            <a:ext cx="10422463" cy="13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 · MEMUAT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7708" y="2557166"/>
            <a:ext cx="10422463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5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ISI DATA MEMUAT: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4671" y="3486806"/>
            <a:ext cx="4291853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 spc="11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&gt;&gt;&gt; df.shape</a:t>
            </a:r>
          </a:p>
          <a:p>
            <a:pPr algn="l">
              <a:lnSpc>
                <a:spcPts val="3696"/>
              </a:lnSpc>
            </a:pPr>
            <a:r>
              <a:rPr lang="en-US" sz="2100" spc="11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-US" sz="2100" spc="11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1338, 7)       (baris, kolom)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928934"/>
            <a:ext cx="6213664" cy="5329366"/>
          </a:xfrm>
          <a:custGeom>
            <a:avLst/>
            <a:gdLst/>
            <a:ahLst/>
            <a:cxnLst/>
            <a:rect r="r" b="b" t="t" l="l"/>
            <a:pathLst>
              <a:path h="5329366" w="6213664">
                <a:moveTo>
                  <a:pt x="0" y="0"/>
                </a:moveTo>
                <a:lnTo>
                  <a:pt x="6213664" y="0"/>
                </a:lnTo>
                <a:lnTo>
                  <a:pt x="6213664" y="5329366"/>
                </a:lnTo>
                <a:lnTo>
                  <a:pt x="0" y="5329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872669"/>
            <a:ext cx="9275510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B.1 · STRUKTUR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61364"/>
            <a:ext cx="756100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i="true" b="true">
                <a:solidFill>
                  <a:srgbClr val="30387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Tipe data tiap kolom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9358" y="4841938"/>
            <a:ext cx="7137418" cy="42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Semua kolom 1.338 non-null, tidak ada data kosong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8618442" y="4865249"/>
            <a:ext cx="0" cy="4758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919358" y="5534832"/>
            <a:ext cx="713741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 kolom teks (sex, smoker, region), harus di-encoding dulu biar bisa masuk model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8618442" y="5639607"/>
            <a:ext cx="19050" cy="784098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8637492" y="6709707"/>
            <a:ext cx="0" cy="4758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8919358" y="6690405"/>
            <a:ext cx="713741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age dan children bertipe int, bmi dan charges bertipe float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54575" y="0"/>
            <a:ext cx="2790825" cy="10287000"/>
            <a:chOff x="0" y="0"/>
            <a:chExt cx="73503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5032" cy="2709333"/>
            </a:xfrm>
            <a:custGeom>
              <a:avLst/>
              <a:gdLst/>
              <a:ahLst/>
              <a:cxnLst/>
              <a:rect r="r" b="b" t="t" l="l"/>
              <a:pathLst>
                <a:path h="2709333" w="735032">
                  <a:moveTo>
                    <a:pt x="99866" y="0"/>
                  </a:moveTo>
                  <a:lnTo>
                    <a:pt x="635166" y="0"/>
                  </a:lnTo>
                  <a:cubicBezTo>
                    <a:pt x="690321" y="0"/>
                    <a:pt x="735032" y="44712"/>
                    <a:pt x="735032" y="99866"/>
                  </a:cubicBezTo>
                  <a:lnTo>
                    <a:pt x="735032" y="2609467"/>
                  </a:lnTo>
                  <a:cubicBezTo>
                    <a:pt x="735032" y="2635953"/>
                    <a:pt x="724511" y="2661355"/>
                    <a:pt x="705782" y="2680083"/>
                  </a:cubicBezTo>
                  <a:cubicBezTo>
                    <a:pt x="687053" y="2698812"/>
                    <a:pt x="661652" y="2709333"/>
                    <a:pt x="635166" y="2709333"/>
                  </a:cubicBezTo>
                  <a:lnTo>
                    <a:pt x="99866" y="2709333"/>
                  </a:lnTo>
                  <a:cubicBezTo>
                    <a:pt x="44712" y="2709333"/>
                    <a:pt x="0" y="2664622"/>
                    <a:pt x="0" y="2609467"/>
                  </a:cubicBezTo>
                  <a:lnTo>
                    <a:pt x="0" y="99866"/>
                  </a:lnTo>
                  <a:cubicBezTo>
                    <a:pt x="0" y="44712"/>
                    <a:pt x="44712" y="0"/>
                    <a:pt x="99866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735032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55805" y="3889716"/>
            <a:ext cx="11576390" cy="2507568"/>
          </a:xfrm>
          <a:custGeom>
            <a:avLst/>
            <a:gdLst/>
            <a:ahLst/>
            <a:cxnLst/>
            <a:rect r="r" b="b" t="t" l="l"/>
            <a:pathLst>
              <a:path h="2507568" w="11576390">
                <a:moveTo>
                  <a:pt x="0" y="0"/>
                </a:moveTo>
                <a:lnTo>
                  <a:pt x="11576390" y="0"/>
                </a:lnTo>
                <a:lnTo>
                  <a:pt x="11576390" y="2507568"/>
                </a:lnTo>
                <a:lnTo>
                  <a:pt x="0" y="2507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17747"/>
            <a:ext cx="15699808" cy="105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B.2 · STATISTIK DESKRIPTIF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7725342"/>
            <a:ext cx="5211231" cy="1743104"/>
            <a:chOff x="0" y="0"/>
            <a:chExt cx="1372505" cy="459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2505" cy="459089"/>
            </a:xfrm>
            <a:custGeom>
              <a:avLst/>
              <a:gdLst/>
              <a:ahLst/>
              <a:cxnLst/>
              <a:rect r="r" b="b" t="t" l="l"/>
              <a:pathLst>
                <a:path h="459089" w="1372505">
                  <a:moveTo>
                    <a:pt x="75767" y="0"/>
                  </a:moveTo>
                  <a:lnTo>
                    <a:pt x="1296739" y="0"/>
                  </a:lnTo>
                  <a:cubicBezTo>
                    <a:pt x="1316833" y="0"/>
                    <a:pt x="1336105" y="7983"/>
                    <a:pt x="1350314" y="22192"/>
                  </a:cubicBezTo>
                  <a:cubicBezTo>
                    <a:pt x="1364523" y="36401"/>
                    <a:pt x="1372505" y="55672"/>
                    <a:pt x="1372505" y="75767"/>
                  </a:cubicBezTo>
                  <a:lnTo>
                    <a:pt x="1372505" y="383322"/>
                  </a:lnTo>
                  <a:cubicBezTo>
                    <a:pt x="1372505" y="403417"/>
                    <a:pt x="1364523" y="422688"/>
                    <a:pt x="1350314" y="436897"/>
                  </a:cubicBezTo>
                  <a:cubicBezTo>
                    <a:pt x="1336105" y="451106"/>
                    <a:pt x="1316833" y="459089"/>
                    <a:pt x="1296739" y="459089"/>
                  </a:cubicBezTo>
                  <a:lnTo>
                    <a:pt x="75767" y="459089"/>
                  </a:lnTo>
                  <a:cubicBezTo>
                    <a:pt x="55672" y="459089"/>
                    <a:pt x="36401" y="451106"/>
                    <a:pt x="22192" y="436897"/>
                  </a:cubicBezTo>
                  <a:cubicBezTo>
                    <a:pt x="7983" y="422688"/>
                    <a:pt x="0" y="403417"/>
                    <a:pt x="0" y="383322"/>
                  </a:cubicBezTo>
                  <a:lnTo>
                    <a:pt x="0" y="75767"/>
                  </a:lnTo>
                  <a:cubicBezTo>
                    <a:pt x="0" y="55672"/>
                    <a:pt x="7983" y="36401"/>
                    <a:pt x="22192" y="22192"/>
                  </a:cubicBezTo>
                  <a:cubicBezTo>
                    <a:pt x="36401" y="7983"/>
                    <a:pt x="55672" y="0"/>
                    <a:pt x="75767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372505" cy="554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8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64862" y="7861846"/>
            <a:ext cx="4303041" cy="59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28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39 tahun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296917"/>
            <a:ext cx="10422463" cy="54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31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CHARGES: RATA-RATA JAUH DI ATAS MEDIAN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4862" y="8322349"/>
            <a:ext cx="4484578" cy="50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rata-rata usia (18 sampai 64)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38384" y="7725342"/>
            <a:ext cx="5211231" cy="1743104"/>
            <a:chOff x="0" y="0"/>
            <a:chExt cx="1372505" cy="4590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2505" cy="459089"/>
            </a:xfrm>
            <a:custGeom>
              <a:avLst/>
              <a:gdLst/>
              <a:ahLst/>
              <a:cxnLst/>
              <a:rect r="r" b="b" t="t" l="l"/>
              <a:pathLst>
                <a:path h="459089" w="1372505">
                  <a:moveTo>
                    <a:pt x="75767" y="0"/>
                  </a:moveTo>
                  <a:lnTo>
                    <a:pt x="1296739" y="0"/>
                  </a:lnTo>
                  <a:cubicBezTo>
                    <a:pt x="1316833" y="0"/>
                    <a:pt x="1336105" y="7983"/>
                    <a:pt x="1350314" y="22192"/>
                  </a:cubicBezTo>
                  <a:cubicBezTo>
                    <a:pt x="1364523" y="36401"/>
                    <a:pt x="1372505" y="55672"/>
                    <a:pt x="1372505" y="75767"/>
                  </a:cubicBezTo>
                  <a:lnTo>
                    <a:pt x="1372505" y="383322"/>
                  </a:lnTo>
                  <a:cubicBezTo>
                    <a:pt x="1372505" y="403417"/>
                    <a:pt x="1364523" y="422688"/>
                    <a:pt x="1350314" y="436897"/>
                  </a:cubicBezTo>
                  <a:cubicBezTo>
                    <a:pt x="1336105" y="451106"/>
                    <a:pt x="1316833" y="459089"/>
                    <a:pt x="1296739" y="459089"/>
                  </a:cubicBezTo>
                  <a:lnTo>
                    <a:pt x="75767" y="459089"/>
                  </a:lnTo>
                  <a:cubicBezTo>
                    <a:pt x="55672" y="459089"/>
                    <a:pt x="36401" y="451106"/>
                    <a:pt x="22192" y="436897"/>
                  </a:cubicBezTo>
                  <a:cubicBezTo>
                    <a:pt x="7983" y="422688"/>
                    <a:pt x="0" y="403417"/>
                    <a:pt x="0" y="383322"/>
                  </a:cubicBezTo>
                  <a:lnTo>
                    <a:pt x="0" y="75767"/>
                  </a:lnTo>
                  <a:cubicBezTo>
                    <a:pt x="0" y="55672"/>
                    <a:pt x="7983" y="36401"/>
                    <a:pt x="22192" y="22192"/>
                  </a:cubicBezTo>
                  <a:cubicBezTo>
                    <a:pt x="36401" y="7983"/>
                    <a:pt x="55672" y="0"/>
                    <a:pt x="75767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372505" cy="554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48069" y="7725342"/>
            <a:ext cx="5211231" cy="1743104"/>
            <a:chOff x="0" y="0"/>
            <a:chExt cx="1372505" cy="4590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2505" cy="459089"/>
            </a:xfrm>
            <a:custGeom>
              <a:avLst/>
              <a:gdLst/>
              <a:ahLst/>
              <a:cxnLst/>
              <a:rect r="r" b="b" t="t" l="l"/>
              <a:pathLst>
                <a:path h="459089" w="1372505">
                  <a:moveTo>
                    <a:pt x="75767" y="0"/>
                  </a:moveTo>
                  <a:lnTo>
                    <a:pt x="1296739" y="0"/>
                  </a:lnTo>
                  <a:cubicBezTo>
                    <a:pt x="1316833" y="0"/>
                    <a:pt x="1336105" y="7983"/>
                    <a:pt x="1350314" y="22192"/>
                  </a:cubicBezTo>
                  <a:cubicBezTo>
                    <a:pt x="1364523" y="36401"/>
                    <a:pt x="1372505" y="55672"/>
                    <a:pt x="1372505" y="75767"/>
                  </a:cubicBezTo>
                  <a:lnTo>
                    <a:pt x="1372505" y="383322"/>
                  </a:lnTo>
                  <a:cubicBezTo>
                    <a:pt x="1372505" y="403417"/>
                    <a:pt x="1364523" y="422688"/>
                    <a:pt x="1350314" y="436897"/>
                  </a:cubicBezTo>
                  <a:cubicBezTo>
                    <a:pt x="1336105" y="451106"/>
                    <a:pt x="1316833" y="459089"/>
                    <a:pt x="1296739" y="459089"/>
                  </a:cubicBezTo>
                  <a:lnTo>
                    <a:pt x="75767" y="459089"/>
                  </a:lnTo>
                  <a:cubicBezTo>
                    <a:pt x="55672" y="459089"/>
                    <a:pt x="36401" y="451106"/>
                    <a:pt x="22192" y="436897"/>
                  </a:cubicBezTo>
                  <a:cubicBezTo>
                    <a:pt x="7983" y="422688"/>
                    <a:pt x="0" y="403417"/>
                    <a:pt x="0" y="383322"/>
                  </a:cubicBezTo>
                  <a:lnTo>
                    <a:pt x="0" y="75767"/>
                  </a:lnTo>
                  <a:cubicBezTo>
                    <a:pt x="0" y="55672"/>
                    <a:pt x="7983" y="36401"/>
                    <a:pt x="22192" y="22192"/>
                  </a:cubicBezTo>
                  <a:cubicBezTo>
                    <a:pt x="36401" y="7983"/>
                    <a:pt x="55672" y="0"/>
                    <a:pt x="75767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372505" cy="554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8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992479" y="7861846"/>
            <a:ext cx="4303041" cy="59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28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30,7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92479" y="8341399"/>
            <a:ext cx="4549452" cy="9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7"/>
              </a:lnSpc>
            </a:pPr>
            <a:r>
              <a:rPr lang="en-US" sz="22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rata-rata BMI, pas batas di obesitas (30)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02164" y="7759359"/>
            <a:ext cx="4303041" cy="59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28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13.270 vs 9.382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02091" y="8341399"/>
            <a:ext cx="4549452" cy="146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7"/>
              </a:lnSpc>
            </a:pPr>
            <a:r>
              <a:rPr lang="en-US" sz="229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mean vs median charges, miring ke kanan</a:t>
            </a:r>
          </a:p>
          <a:p>
            <a:pPr algn="l">
              <a:lnSpc>
                <a:spcPts val="40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144831"/>
            <a:ext cx="7954043" cy="5625724"/>
          </a:xfrm>
          <a:custGeom>
            <a:avLst/>
            <a:gdLst/>
            <a:ahLst/>
            <a:cxnLst/>
            <a:rect r="r" b="b" t="t" l="l"/>
            <a:pathLst>
              <a:path h="5625724" w="7954043">
                <a:moveTo>
                  <a:pt x="0" y="0"/>
                </a:moveTo>
                <a:lnTo>
                  <a:pt x="7954043" y="0"/>
                </a:lnTo>
                <a:lnTo>
                  <a:pt x="7954043" y="5625723"/>
                </a:lnTo>
                <a:lnTo>
                  <a:pt x="0" y="5625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93586"/>
            <a:ext cx="11344696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B.3 · KUALITAS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22258" y="5732397"/>
            <a:ext cx="610386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Missing value: 0 di semua kolom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22258" y="6535545"/>
            <a:ext cx="610386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Duplikat: 1 baris (baris 195 dan 581 kembar)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091825"/>
            <a:ext cx="571612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Data kosong dan duplikat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2258" y="7320065"/>
            <a:ext cx="610386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Nggak perlu imputasi, tinggal buang duplikatnya di tahap preprocessing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9614649" y="5809053"/>
            <a:ext cx="0" cy="4758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624174" y="6561097"/>
            <a:ext cx="0" cy="47581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9605124" y="7310540"/>
            <a:ext cx="9525" cy="1000259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5388" y="3924165"/>
            <a:ext cx="8474962" cy="5604991"/>
          </a:xfrm>
          <a:custGeom>
            <a:avLst/>
            <a:gdLst/>
            <a:ahLst/>
            <a:cxnLst/>
            <a:rect r="r" b="b" t="t" l="l"/>
            <a:pathLst>
              <a:path h="5604991" w="8474962">
                <a:moveTo>
                  <a:pt x="0" y="0"/>
                </a:moveTo>
                <a:lnTo>
                  <a:pt x="8474962" y="0"/>
                </a:lnTo>
                <a:lnTo>
                  <a:pt x="8474962" y="5604991"/>
                </a:lnTo>
                <a:lnTo>
                  <a:pt x="0" y="5604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43347" y="5097467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39"/>
                </a:lnTo>
                <a:lnTo>
                  <a:pt x="0" y="409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0130"/>
            <a:ext cx="11344696" cy="192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B.4 · SEBARAN VARIABEL NUMERIK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9427" y="5038725"/>
            <a:ext cx="610386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age: merata dari 18 sampai 64 tahun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09427" y="6138949"/>
            <a:ext cx="610386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bmi: mirip lonceng, rata-rata sekitar 30,7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091825"/>
            <a:ext cx="6845680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Bentuk distribusi tiap variabel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09427" y="7237372"/>
            <a:ext cx="610386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children: kebanyakan 0 sampai 2 anak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09427" y="8106034"/>
            <a:ext cx="610386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charges: miring ke kanan (skew 1,52). Banyak yang murah, sedikit yang mahal banget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843347" y="6197690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40"/>
                </a:lnTo>
                <a:lnTo>
                  <a:pt x="0" y="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43347" y="7297914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40"/>
                </a:lnTo>
                <a:lnTo>
                  <a:pt x="0" y="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43347" y="8398138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40"/>
                </a:lnTo>
                <a:lnTo>
                  <a:pt x="0" y="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43347" y="5170572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40"/>
                </a:lnTo>
                <a:lnTo>
                  <a:pt x="0" y="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43347" y="6370587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40"/>
                </a:lnTo>
                <a:lnTo>
                  <a:pt x="0" y="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43347" y="7567508"/>
            <a:ext cx="484544" cy="409440"/>
          </a:xfrm>
          <a:custGeom>
            <a:avLst/>
            <a:gdLst/>
            <a:ahLst/>
            <a:cxnLst/>
            <a:rect r="r" b="b" t="t" l="l"/>
            <a:pathLst>
              <a:path h="409440" w="484544">
                <a:moveTo>
                  <a:pt x="0" y="0"/>
                </a:moveTo>
                <a:lnTo>
                  <a:pt x="484544" y="0"/>
                </a:lnTo>
                <a:lnTo>
                  <a:pt x="484544" y="409440"/>
                </a:lnTo>
                <a:lnTo>
                  <a:pt x="0" y="40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200623"/>
            <a:ext cx="8521710" cy="5439575"/>
          </a:xfrm>
          <a:custGeom>
            <a:avLst/>
            <a:gdLst/>
            <a:ahLst/>
            <a:cxnLst/>
            <a:rect r="r" b="b" t="t" l="l"/>
            <a:pathLst>
              <a:path h="5439575" w="8521710">
                <a:moveTo>
                  <a:pt x="0" y="0"/>
                </a:moveTo>
                <a:lnTo>
                  <a:pt x="8521710" y="0"/>
                </a:lnTo>
                <a:lnTo>
                  <a:pt x="8521710" y="5439575"/>
                </a:lnTo>
                <a:lnTo>
                  <a:pt x="0" y="5439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60130"/>
            <a:ext cx="11344696" cy="192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B.5 CHARGES PER KATEGORI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9427" y="4878468"/>
            <a:ext cx="610386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Perokok rata-rata 32.050 vs non-perokok 8.434, sekitar 3,8 kali lipat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09427" y="6078483"/>
            <a:ext cx="610386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sex dan region: bedanya kecil, kotaknya banyak yang numpuk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091825"/>
            <a:ext cx="8115300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Perokok bikin biaya jauh lebih mahal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09427" y="7491308"/>
            <a:ext cx="610386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children: polanya naik turun, pengaruhnya lemah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12813" y="0"/>
            <a:ext cx="2332587" cy="10287000"/>
            <a:chOff x="0" y="0"/>
            <a:chExt cx="61434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43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614344">
                  <a:moveTo>
                    <a:pt x="119485" y="0"/>
                  </a:moveTo>
                  <a:lnTo>
                    <a:pt x="494859" y="0"/>
                  </a:lnTo>
                  <a:cubicBezTo>
                    <a:pt x="560849" y="0"/>
                    <a:pt x="614344" y="53495"/>
                    <a:pt x="614344" y="119485"/>
                  </a:cubicBezTo>
                  <a:lnTo>
                    <a:pt x="614344" y="2589848"/>
                  </a:lnTo>
                  <a:cubicBezTo>
                    <a:pt x="614344" y="2621538"/>
                    <a:pt x="601755" y="2651929"/>
                    <a:pt x="579348" y="2674337"/>
                  </a:cubicBezTo>
                  <a:cubicBezTo>
                    <a:pt x="556940" y="2696745"/>
                    <a:pt x="526548" y="2709333"/>
                    <a:pt x="494859" y="2709333"/>
                  </a:cubicBezTo>
                  <a:lnTo>
                    <a:pt x="119485" y="2709333"/>
                  </a:lnTo>
                  <a:cubicBezTo>
                    <a:pt x="53495" y="2709333"/>
                    <a:pt x="0" y="2655838"/>
                    <a:pt x="0" y="2589848"/>
                  </a:cubicBezTo>
                  <a:lnTo>
                    <a:pt x="0" y="119485"/>
                  </a:lnTo>
                  <a:cubicBezTo>
                    <a:pt x="0" y="53495"/>
                    <a:pt x="53495" y="0"/>
                    <a:pt x="119485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614344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01885" y="3377129"/>
            <a:ext cx="13084230" cy="3532742"/>
          </a:xfrm>
          <a:custGeom>
            <a:avLst/>
            <a:gdLst/>
            <a:ahLst/>
            <a:cxnLst/>
            <a:rect r="r" b="b" t="t" l="l"/>
            <a:pathLst>
              <a:path h="3532742" w="13084230">
                <a:moveTo>
                  <a:pt x="0" y="0"/>
                </a:moveTo>
                <a:lnTo>
                  <a:pt x="13084230" y="0"/>
                </a:lnTo>
                <a:lnTo>
                  <a:pt x="13084230" y="3532742"/>
                </a:lnTo>
                <a:lnTo>
                  <a:pt x="0" y="3532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0575" y="7462321"/>
            <a:ext cx="5292066" cy="1207459"/>
          </a:xfrm>
          <a:custGeom>
            <a:avLst/>
            <a:gdLst/>
            <a:ahLst/>
            <a:cxnLst/>
            <a:rect r="r" b="b" t="t" l="l"/>
            <a:pathLst>
              <a:path h="1207459" w="5292066">
                <a:moveTo>
                  <a:pt x="0" y="0"/>
                </a:moveTo>
                <a:lnTo>
                  <a:pt x="5292066" y="0"/>
                </a:lnTo>
                <a:lnTo>
                  <a:pt x="5292066" y="1207459"/>
                </a:lnTo>
                <a:lnTo>
                  <a:pt x="0" y="1207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97967" y="7462321"/>
            <a:ext cx="5292066" cy="1207459"/>
          </a:xfrm>
          <a:custGeom>
            <a:avLst/>
            <a:gdLst/>
            <a:ahLst/>
            <a:cxnLst/>
            <a:rect r="r" b="b" t="t" l="l"/>
            <a:pathLst>
              <a:path h="1207459" w="5292066">
                <a:moveTo>
                  <a:pt x="0" y="0"/>
                </a:moveTo>
                <a:lnTo>
                  <a:pt x="5292066" y="0"/>
                </a:lnTo>
                <a:lnTo>
                  <a:pt x="5292066" y="1207459"/>
                </a:lnTo>
                <a:lnTo>
                  <a:pt x="0" y="1207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09133" y="7462321"/>
            <a:ext cx="5384580" cy="1228567"/>
          </a:xfrm>
          <a:custGeom>
            <a:avLst/>
            <a:gdLst/>
            <a:ahLst/>
            <a:cxnLst/>
            <a:rect r="r" b="b" t="t" l="l"/>
            <a:pathLst>
              <a:path h="1228567" w="5384580">
                <a:moveTo>
                  <a:pt x="0" y="0"/>
                </a:moveTo>
                <a:lnTo>
                  <a:pt x="5384580" y="0"/>
                </a:lnTo>
                <a:lnTo>
                  <a:pt x="5384580" y="1228567"/>
                </a:lnTo>
                <a:lnTo>
                  <a:pt x="0" y="122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84336"/>
            <a:ext cx="11344696" cy="125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8"/>
              </a:lnSpc>
            </a:pPr>
            <a:r>
              <a:rPr lang="en-US" sz="72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B.6 SCATTER PLOT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72675"/>
            <a:ext cx="8115300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Biaya terpisah jadi tiga pita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4443" y="3924165"/>
            <a:ext cx="8767929" cy="5930346"/>
          </a:xfrm>
          <a:custGeom>
            <a:avLst/>
            <a:gdLst/>
            <a:ahLst/>
            <a:cxnLst/>
            <a:rect r="r" b="b" t="t" l="l"/>
            <a:pathLst>
              <a:path h="5930346" w="8767929">
                <a:moveTo>
                  <a:pt x="0" y="0"/>
                </a:moveTo>
                <a:lnTo>
                  <a:pt x="8767929" y="0"/>
                </a:lnTo>
                <a:lnTo>
                  <a:pt x="8767929" y="5930346"/>
                </a:lnTo>
                <a:lnTo>
                  <a:pt x="0" y="5930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89821" y="4725274"/>
            <a:ext cx="6542029" cy="1446719"/>
          </a:xfrm>
          <a:custGeom>
            <a:avLst/>
            <a:gdLst/>
            <a:ahLst/>
            <a:cxnLst/>
            <a:rect r="r" b="b" t="t" l="l"/>
            <a:pathLst>
              <a:path h="1446719" w="6542029">
                <a:moveTo>
                  <a:pt x="0" y="0"/>
                </a:moveTo>
                <a:lnTo>
                  <a:pt x="6542030" y="0"/>
                </a:lnTo>
                <a:lnTo>
                  <a:pt x="6542030" y="1446718"/>
                </a:lnTo>
                <a:lnTo>
                  <a:pt x="0" y="1446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89821" y="6889338"/>
            <a:ext cx="6636541" cy="1475683"/>
          </a:xfrm>
          <a:custGeom>
            <a:avLst/>
            <a:gdLst/>
            <a:ahLst/>
            <a:cxnLst/>
            <a:rect r="r" b="b" t="t" l="l"/>
            <a:pathLst>
              <a:path h="1475683" w="6636541">
                <a:moveTo>
                  <a:pt x="0" y="0"/>
                </a:moveTo>
                <a:lnTo>
                  <a:pt x="6636541" y="0"/>
                </a:lnTo>
                <a:lnTo>
                  <a:pt x="6636541" y="1475683"/>
                </a:lnTo>
                <a:lnTo>
                  <a:pt x="0" y="1475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88755"/>
            <a:ext cx="13220569" cy="105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B.7  PEROKOK × OBESITAS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8825" y="2527045"/>
            <a:ext cx="843916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Obesitas bahayanya cuma buat perokok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9337" y="4851286"/>
            <a:ext cx="1282779" cy="75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1"/>
              </a:lnSpc>
              <a:spcBef>
                <a:spcPct val="0"/>
              </a:spcBef>
            </a:pPr>
            <a:r>
              <a:rPr lang="en-US" sz="3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+11%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7077" y="5502544"/>
            <a:ext cx="6542029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kalau obesitas tapi non-perokok (7.977 jadi 8.843)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9337" y="6947345"/>
            <a:ext cx="1282779" cy="75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1"/>
              </a:lnSpc>
              <a:spcBef>
                <a:spcPct val="0"/>
              </a:spcBef>
            </a:pPr>
            <a:r>
              <a:rPr lang="en-US" sz="3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+95%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37077" y="7617654"/>
            <a:ext cx="6542029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kalau obesitas dan perokok (21.363 jadi 41.558)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8825" y="3505810"/>
            <a:ext cx="7056580" cy="6226982"/>
          </a:xfrm>
          <a:custGeom>
            <a:avLst/>
            <a:gdLst/>
            <a:ahLst/>
            <a:cxnLst/>
            <a:rect r="r" b="b" t="t" l="l"/>
            <a:pathLst>
              <a:path h="6226982" w="7056580">
                <a:moveTo>
                  <a:pt x="0" y="0"/>
                </a:moveTo>
                <a:lnTo>
                  <a:pt x="7056581" y="0"/>
                </a:lnTo>
                <a:lnTo>
                  <a:pt x="7056581" y="6226982"/>
                </a:lnTo>
                <a:lnTo>
                  <a:pt x="0" y="622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88755"/>
            <a:ext cx="13220569" cy="105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B.8 KORELASI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8825" y="2527045"/>
            <a:ext cx="843916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Smoker paling nempel sama charges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4710" y="4387466"/>
            <a:ext cx="5438180" cy="75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1"/>
              </a:lnSpc>
              <a:spcBef>
                <a:spcPct val="0"/>
              </a:spcBef>
            </a:pPr>
            <a:r>
              <a:rPr lang="en-US" b="true" sz="36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smoker 0,7</a:t>
            </a:r>
            <a:r>
              <a:rPr lang="en-US" b="true" sz="36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9:</a:t>
            </a:r>
            <a:r>
              <a:rPr lang="en-US" sz="3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kuat banget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6445" y="5538079"/>
            <a:ext cx="5572363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age 0,30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dan</a:t>
            </a: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bmi 0,20: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lemah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9781" y="6484719"/>
            <a:ext cx="717780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children 0,07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dan</a:t>
            </a: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sex 0,06: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hampir nol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7400" y="7431359"/>
            <a:ext cx="6259905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  <a:spcBef>
                <a:spcPct val="0"/>
              </a:spcBef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Antar f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itur nggak saling nempel, jadi aman buat regresi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196106"/>
            <a:ext cx="11846559" cy="2661879"/>
          </a:xfrm>
          <a:custGeom>
            <a:avLst/>
            <a:gdLst/>
            <a:ahLst/>
            <a:cxnLst/>
            <a:rect r="r" b="b" t="t" l="l"/>
            <a:pathLst>
              <a:path h="2661879" w="11846559">
                <a:moveTo>
                  <a:pt x="0" y="0"/>
                </a:moveTo>
                <a:lnTo>
                  <a:pt x="11846559" y="0"/>
                </a:lnTo>
                <a:lnTo>
                  <a:pt x="11846559" y="2661878"/>
                </a:lnTo>
                <a:lnTo>
                  <a:pt x="0" y="2661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410434"/>
            <a:ext cx="4545836" cy="2119638"/>
          </a:xfrm>
          <a:custGeom>
            <a:avLst/>
            <a:gdLst/>
            <a:ahLst/>
            <a:cxnLst/>
            <a:rect r="r" b="b" t="t" l="l"/>
            <a:pathLst>
              <a:path h="2119638" w="4545836">
                <a:moveTo>
                  <a:pt x="0" y="0"/>
                </a:moveTo>
                <a:lnTo>
                  <a:pt x="4545836" y="0"/>
                </a:lnTo>
                <a:lnTo>
                  <a:pt x="4545836" y="2119639"/>
                </a:lnTo>
                <a:lnTo>
                  <a:pt x="0" y="2119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0130"/>
            <a:ext cx="11344696" cy="192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C.1 DAN C.2 ·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91825"/>
            <a:ext cx="8115300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Hapus duplikat dan encoding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29243" y="7343759"/>
            <a:ext cx="7521059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Duplikat dibuang: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1.338 jadi 1.337 baris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29243" y="8109425"/>
            <a:ext cx="4447699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sex</a:t>
            </a: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dan smoker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jadi 0/1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29243" y="8875090"/>
            <a:ext cx="746081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region</a:t>
            </a:r>
            <a:r>
              <a:rPr lang="en-US" b="true" sz="323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jadi one-hot, northeast jadi acuan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630556"/>
            <a:ext cx="8115300" cy="4361812"/>
          </a:xfrm>
          <a:custGeom>
            <a:avLst/>
            <a:gdLst/>
            <a:ahLst/>
            <a:cxnLst/>
            <a:rect r="r" b="b" t="t" l="l"/>
            <a:pathLst>
              <a:path h="4361812" w="8115300">
                <a:moveTo>
                  <a:pt x="0" y="0"/>
                </a:moveTo>
                <a:lnTo>
                  <a:pt x="8115300" y="0"/>
                </a:lnTo>
                <a:lnTo>
                  <a:pt x="8115300" y="4361812"/>
                </a:lnTo>
                <a:lnTo>
                  <a:pt x="0" y="4361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809677"/>
            <a:ext cx="9624393" cy="1661474"/>
          </a:xfrm>
          <a:custGeom>
            <a:avLst/>
            <a:gdLst/>
            <a:ahLst/>
            <a:cxnLst/>
            <a:rect r="r" b="b" t="t" l="l"/>
            <a:pathLst>
              <a:path h="1661474" w="9624393">
                <a:moveTo>
                  <a:pt x="0" y="0"/>
                </a:moveTo>
                <a:lnTo>
                  <a:pt x="9624393" y="0"/>
                </a:lnTo>
                <a:lnTo>
                  <a:pt x="9624393" y="1661475"/>
                </a:lnTo>
                <a:lnTo>
                  <a:pt x="0" y="1661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0130"/>
            <a:ext cx="11344696" cy="192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C.3 DAN C.4 ·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44012"/>
            <a:ext cx="8115300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Split dulu, baru scaling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2478" y="5813345"/>
            <a:ext cx="50250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</a:t>
            </a:r>
            <a:r>
              <a:rPr lang="en-US" b="true" sz="27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plit 80/20: </a:t>
            </a:r>
            <a:r>
              <a:rPr lang="en-US" sz="27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1.069 latih, 268 uji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2478" y="6494700"/>
            <a:ext cx="6493783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Stratify smoker: </a:t>
            </a:r>
            <a:r>
              <a:rPr lang="en-US" sz="27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proporsi perokok sama (20,5%)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2478" y="7723425"/>
            <a:ext cx="662717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Scaler di-fit dari data latih aja, </a:t>
            </a:r>
            <a:r>
              <a:rPr lang="en-US" sz="27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jadi latih mean 0 dan std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02478" y="8961675"/>
            <a:ext cx="697943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Data uji nggak persis 0 dan 1, itu wajar (anti data leakage)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130172"/>
            <a:ext cx="4917434" cy="5471712"/>
          </a:xfrm>
          <a:custGeom>
            <a:avLst/>
            <a:gdLst/>
            <a:ahLst/>
            <a:cxnLst/>
            <a:rect r="r" b="b" t="t" l="l"/>
            <a:pathLst>
              <a:path h="5471712" w="4917434">
                <a:moveTo>
                  <a:pt x="0" y="0"/>
                </a:moveTo>
                <a:lnTo>
                  <a:pt x="4917434" y="0"/>
                </a:lnTo>
                <a:lnTo>
                  <a:pt x="4917434" y="5471711"/>
                </a:lnTo>
                <a:lnTo>
                  <a:pt x="0" y="5471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12463" y="5292278"/>
            <a:ext cx="9367688" cy="656570"/>
          </a:xfrm>
          <a:custGeom>
            <a:avLst/>
            <a:gdLst/>
            <a:ahLst/>
            <a:cxnLst/>
            <a:rect r="r" b="b" t="t" l="l"/>
            <a:pathLst>
              <a:path h="656570" w="9367688">
                <a:moveTo>
                  <a:pt x="0" y="0"/>
                </a:moveTo>
                <a:lnTo>
                  <a:pt x="9367688" y="0"/>
                </a:lnTo>
                <a:lnTo>
                  <a:pt x="9367688" y="656570"/>
                </a:lnTo>
                <a:lnTo>
                  <a:pt x="0" y="656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19212"/>
            <a:ext cx="13359677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D.1 · REGRESI LINEAR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97806"/>
            <a:ext cx="630562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Intercept dan koefisien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70027" y="4606435"/>
            <a:ext cx="941901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smoker +23.750: </a:t>
            </a: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perokok kira-kira 23,7 ribu USD lebih mahal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70027" y="6148873"/>
            <a:ext cx="728543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region 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dibaca relatif ke northeast, selisihnya kecil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0027" y="7016283"/>
            <a:ext cx="8342916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Intercept −11.594: 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cuma titik awal garis, nggak ada makna nyata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442692"/>
            <a:ext cx="6984782" cy="4289932"/>
          </a:xfrm>
          <a:custGeom>
            <a:avLst/>
            <a:gdLst/>
            <a:ahLst/>
            <a:cxnLst/>
            <a:rect r="r" b="b" t="t" l="l"/>
            <a:pathLst>
              <a:path h="4289932" w="6984782">
                <a:moveTo>
                  <a:pt x="0" y="0"/>
                </a:moveTo>
                <a:lnTo>
                  <a:pt x="6984782" y="0"/>
                </a:lnTo>
                <a:lnTo>
                  <a:pt x="6984782" y="4289932"/>
                </a:lnTo>
                <a:lnTo>
                  <a:pt x="0" y="4289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19212"/>
            <a:ext cx="13359677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D.2 · EVALUASI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97806"/>
            <a:ext cx="630562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Seberapa bagus modelnya?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00523" y="4798616"/>
            <a:ext cx="687173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R² test 0,82: 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model jelasin sekitar 82% variasi biaya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00523" y="6152724"/>
            <a:ext cx="78902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RMSE sekitar 5.087 USD: 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meleset sekitar 39% dari rata-rata biaya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7508939"/>
            <a:ext cx="768404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R² test (0,82) &gt; R² train (0,73), kemungkinan data uji kebetulan lebih gampang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695877"/>
            <a:ext cx="7834798" cy="6018593"/>
          </a:xfrm>
          <a:custGeom>
            <a:avLst/>
            <a:gdLst/>
            <a:ahLst/>
            <a:cxnLst/>
            <a:rect r="r" b="b" t="t" l="l"/>
            <a:pathLst>
              <a:path h="6018593" w="7834798">
                <a:moveTo>
                  <a:pt x="0" y="0"/>
                </a:moveTo>
                <a:lnTo>
                  <a:pt x="7834798" y="0"/>
                </a:lnTo>
                <a:lnTo>
                  <a:pt x="7834798" y="6018594"/>
                </a:lnTo>
                <a:lnTo>
                  <a:pt x="0" y="6018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19212"/>
            <a:ext cx="15043558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D.3 · ANALISIS RESIDUAL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17451"/>
            <a:ext cx="630562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Residualnya masih berpola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69021" y="4095750"/>
            <a:ext cx="78902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Residual tidak acak. 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Perokok terpecah jadi dua gugus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9021" y="5411189"/>
            <a:ext cx="768404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Ada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yang kemahalan dan ada yang kemurahan prediksinya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69021" y="6725639"/>
            <a:ext cx="768404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Histogram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bukan lonceng, Q-Q plot melengkung, residual nggak normal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9021" y="8040089"/>
            <a:ext cx="768404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Model m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asih terlalu simpel, belum nangkep interaksi perokok × obesitas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57250"/>
            <a:ext cx="9860126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G · KESIMPULAN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832105"/>
            <a:ext cx="9525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13624" y="2878780"/>
            <a:ext cx="78902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</a:t>
            </a: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erokok 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faktor paling berpengaruh (korelasi 0,79, biaya sekitar 3,8 kali lipat)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3624" y="4346330"/>
            <a:ext cx="78902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Pr</a:t>
            </a: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eprocessing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: hapus duplikat, encoding, split, baru scaling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3624" y="5813180"/>
            <a:ext cx="789027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</a:t>
            </a: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egresi linear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: R² test 0,82, RMSE sekitar 5.087 USD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13624" y="7289555"/>
            <a:ext cx="7890279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</a:t>
            </a:r>
            <a:r>
              <a:rPr lang="en-US" b="true" sz="30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esidual masih berpola</a:t>
            </a:r>
            <a:r>
              <a:rPr lang="en-US" sz="30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, jadi perlu fitur interaksi perokok × obesitas. Di notebook, setelah ditambah fitur itu R² naik ke 0,92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34337"/>
            <a:ext cx="10208996" cy="18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DAHXHThFA1s</dc:identifier>
  <dcterms:modified xsi:type="dcterms:W3CDTF">2011-08-01T06:04:30Z</dcterms:modified>
  <cp:revision>1</cp:revision>
  <dc:title>Machine Learning</dc:title>
</cp:coreProperties>
</file>